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59" r:id="rId3"/>
    <p:sldId id="260" r:id="rId4"/>
    <p:sldId id="261" r:id="rId5"/>
    <p:sldId id="263" r:id="rId6"/>
    <p:sldId id="262" r:id="rId7"/>
    <p:sldId id="264" r:id="rId8"/>
    <p:sldId id="265" r:id="rId9"/>
    <p:sldId id="267" r:id="rId10"/>
    <p:sldId id="273" r:id="rId11"/>
    <p:sldId id="275" r:id="rId12"/>
    <p:sldId id="266" r:id="rId13"/>
    <p:sldId id="270" r:id="rId14"/>
    <p:sldId id="274" r:id="rId15"/>
    <p:sldId id="272"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2" d="100"/>
          <a:sy n="72" d="100"/>
        </p:scale>
        <p:origin x="85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6F25B1-97AB-4FCD-8C2F-C4DA32F38817}" type="datetimeFigureOut">
              <a:rPr lang="en-GB" smtClean="0"/>
              <a:t>12/07/2026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9759C-85FA-4A8A-8586-98F2F4E02323}" type="slidenum">
              <a:rPr lang="en-GB" smtClean="0"/>
              <a:t>‹#›</a:t>
            </a:fld>
            <a:endParaRPr lang="en-GB"/>
          </a:p>
        </p:txBody>
      </p:sp>
    </p:spTree>
    <p:extLst>
      <p:ext uri="{BB962C8B-B14F-4D97-AF65-F5344CB8AC3E}">
        <p14:creationId xmlns:p14="http://schemas.microsoft.com/office/powerpoint/2010/main" val="2294203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and welcome to my presentation about the NHS.  We will firstly be looking at the context and background of the situation,  the problem we are looking to solve and how the analysis was carried out. WE will then look at some of the interesting insights and trends before moving onto recommendations and conclusions.</a:t>
            </a:r>
          </a:p>
        </p:txBody>
      </p:sp>
      <p:sp>
        <p:nvSpPr>
          <p:cNvPr id="4" name="Slide Number Placeholder 3"/>
          <p:cNvSpPr>
            <a:spLocks noGrp="1"/>
          </p:cNvSpPr>
          <p:nvPr>
            <p:ph type="sldNum" sz="quarter" idx="5"/>
          </p:nvPr>
        </p:nvSpPr>
        <p:spPr/>
        <p:txBody>
          <a:bodyPr/>
          <a:lstStyle/>
          <a:p>
            <a:fld id="{6C69759C-85FA-4A8A-8586-98F2F4E02323}" type="slidenum">
              <a:rPr lang="en-GB" smtClean="0"/>
              <a:t>1</a:t>
            </a:fld>
            <a:endParaRPr lang="en-GB"/>
          </a:p>
        </p:txBody>
      </p:sp>
    </p:spTree>
    <p:extLst>
      <p:ext uri="{BB962C8B-B14F-4D97-AF65-F5344CB8AC3E}">
        <p14:creationId xmlns:p14="http://schemas.microsoft.com/office/powerpoint/2010/main" val="1385141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NHS England has a problem? A problem of limited capacity and resources. Or does it? Well that’s what we hope to discover</a:t>
            </a:r>
          </a:p>
          <a:p>
            <a:r>
              <a:rPr lang="en-GB" dirty="0"/>
              <a:t>Each missed appointment has a financial and social burden on the NHS (UK tax payer) and patients (enable to get an appointment). Can this be addressed through a data informed approach. Can we predict whether an appointment is likely to be missed.</a:t>
            </a:r>
          </a:p>
          <a:p>
            <a:r>
              <a:rPr lang="en-GB" dirty="0"/>
              <a:t>Initial analysis suggests that there may indeed not be sufficient resources to deal with an ever increasing population demand.</a:t>
            </a:r>
          </a:p>
          <a:p>
            <a:r>
              <a:rPr lang="en-GB" dirty="0"/>
              <a:t>The NHS have posed to questions. Has there been adequate staff and capacity in the networks?</a:t>
            </a:r>
          </a:p>
          <a:p>
            <a:r>
              <a:rPr lang="en-GB" dirty="0"/>
              <a:t>What was the actual utilisation of resources?</a:t>
            </a:r>
          </a:p>
          <a:p>
            <a:r>
              <a:rPr lang="en-GB" dirty="0"/>
              <a:t>Lets set about looking into this</a:t>
            </a:r>
          </a:p>
          <a:p>
            <a:endParaRPr lang="en-GB" dirty="0"/>
          </a:p>
        </p:txBody>
      </p:sp>
      <p:sp>
        <p:nvSpPr>
          <p:cNvPr id="4" name="Slide Number Placeholder 3"/>
          <p:cNvSpPr>
            <a:spLocks noGrp="1"/>
          </p:cNvSpPr>
          <p:nvPr>
            <p:ph type="sldNum" sz="quarter" idx="5"/>
          </p:nvPr>
        </p:nvSpPr>
        <p:spPr/>
        <p:txBody>
          <a:bodyPr/>
          <a:lstStyle/>
          <a:p>
            <a:fld id="{6C69759C-85FA-4A8A-8586-98F2F4E02323}" type="slidenum">
              <a:rPr lang="en-GB" smtClean="0"/>
              <a:t>2</a:t>
            </a:fld>
            <a:endParaRPr lang="en-GB"/>
          </a:p>
        </p:txBody>
      </p:sp>
    </p:spTree>
    <p:extLst>
      <p:ext uri="{BB962C8B-B14F-4D97-AF65-F5344CB8AC3E}">
        <p14:creationId xmlns:p14="http://schemas.microsoft.com/office/powerpoint/2010/main" val="4049012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Sp</a:t>
            </a:r>
            <a:r>
              <a:rPr lang="en-GB" dirty="0"/>
              <a:t>, some initial insights.</a:t>
            </a:r>
          </a:p>
          <a:p>
            <a:r>
              <a:rPr lang="en-GB" dirty="0"/>
              <a:t>There are 106 locations across 7 regions</a:t>
            </a:r>
          </a:p>
          <a:p>
            <a:r>
              <a:rPr lang="en-GB" dirty="0"/>
              <a:t>Face to face is the most common delivery method for appointments, followed by telephone and the covid pandemic played a big part in this change as we’ll see later on,</a:t>
            </a:r>
          </a:p>
          <a:p>
            <a:r>
              <a:rPr lang="en-GB" dirty="0"/>
              <a:t>91% of all appointments are attended. But that still leaves 96,000 missed appointments a day, using a 1,2 million a day guide figure.</a:t>
            </a:r>
          </a:p>
          <a:p>
            <a:r>
              <a:rPr lang="en-GB" dirty="0"/>
              <a:t>Most GP appointments are same day</a:t>
            </a:r>
          </a:p>
          <a:p>
            <a:r>
              <a:rPr lang="en-GB" dirty="0"/>
              <a:t>But, crucially, one regularly occurring theme has been  with unmapped, inconsistent mapped and data quality issues,</a:t>
            </a:r>
          </a:p>
        </p:txBody>
      </p:sp>
      <p:sp>
        <p:nvSpPr>
          <p:cNvPr id="4" name="Slide Number Placeholder 3"/>
          <p:cNvSpPr>
            <a:spLocks noGrp="1"/>
          </p:cNvSpPr>
          <p:nvPr>
            <p:ph type="sldNum" sz="quarter" idx="5"/>
          </p:nvPr>
        </p:nvSpPr>
        <p:spPr/>
        <p:txBody>
          <a:bodyPr/>
          <a:lstStyle/>
          <a:p>
            <a:fld id="{6C69759C-85FA-4A8A-8586-98F2F4E02323}" type="slidenum">
              <a:rPr lang="en-GB" smtClean="0"/>
              <a:t>3</a:t>
            </a:fld>
            <a:endParaRPr lang="en-GB"/>
          </a:p>
        </p:txBody>
      </p:sp>
    </p:spTree>
    <p:extLst>
      <p:ext uri="{BB962C8B-B14F-4D97-AF65-F5344CB8AC3E}">
        <p14:creationId xmlns:p14="http://schemas.microsoft.com/office/powerpoint/2010/main" val="1133512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Service setting and context type. </a:t>
            </a:r>
          </a:p>
          <a:p>
            <a:r>
              <a:rPr lang="en-GB" dirty="0"/>
              <a:t>GP is by far the most popular service setting and dominates the chart to the extent everything else is barely, so to the right we have the same chart without the GP service setting. Now we can see that the unmapped category (red line) makes up the biggest chunk. This is an issue for data collection. </a:t>
            </a:r>
            <a:r>
              <a:rPr lang="en-GB" dirty="0" err="1"/>
              <a:t>Howeverm</a:t>
            </a:r>
            <a:r>
              <a:rPr lang="en-GB" dirty="0"/>
              <a:t> a significant drop started in October 2021 presumably due to a new mapping system introduced in August of that year.</a:t>
            </a:r>
          </a:p>
          <a:p>
            <a:r>
              <a:rPr lang="en-GB" dirty="0"/>
              <a:t>Also slight increase in primary care (green) during this period.</a:t>
            </a:r>
          </a:p>
          <a:p>
            <a:r>
              <a:rPr lang="en-GB" dirty="0"/>
              <a:t>In terms of context type, Primary care dominates. But again we see the issue of Unmapped and inconsistent mapping.</a:t>
            </a:r>
          </a:p>
          <a:p>
            <a:r>
              <a:rPr lang="en-GB" dirty="0"/>
              <a:t>In the National categories Routine general consultation makes up </a:t>
            </a:r>
            <a:r>
              <a:rPr lang="en-GB" dirty="0" err="1"/>
              <a:t>ther</a:t>
            </a:r>
            <a:r>
              <a:rPr lang="en-GB" dirty="0"/>
              <a:t> highest number of appointments.</a:t>
            </a:r>
          </a:p>
          <a:p>
            <a:r>
              <a:rPr lang="en-GB" dirty="0"/>
              <a:t>In each graph we can see we are facing an issue with data quality</a:t>
            </a:r>
          </a:p>
        </p:txBody>
      </p:sp>
      <p:sp>
        <p:nvSpPr>
          <p:cNvPr id="4" name="Slide Number Placeholder 3"/>
          <p:cNvSpPr>
            <a:spLocks noGrp="1"/>
          </p:cNvSpPr>
          <p:nvPr>
            <p:ph type="sldNum" sz="quarter" idx="5"/>
          </p:nvPr>
        </p:nvSpPr>
        <p:spPr/>
        <p:txBody>
          <a:bodyPr/>
          <a:lstStyle/>
          <a:p>
            <a:fld id="{6C69759C-85FA-4A8A-8586-98F2F4E02323}" type="slidenum">
              <a:rPr lang="en-GB" smtClean="0"/>
              <a:t>4</a:t>
            </a:fld>
            <a:endParaRPr lang="en-GB"/>
          </a:p>
        </p:txBody>
      </p:sp>
    </p:spTree>
    <p:extLst>
      <p:ext uri="{BB962C8B-B14F-4D97-AF65-F5344CB8AC3E}">
        <p14:creationId xmlns:p14="http://schemas.microsoft.com/office/powerpoint/2010/main" val="900855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turning to appointments now, we can see an average week. The red horizontal line marks 1.2 million daily appointments considered to be the maximum capacity of the NHS</a:t>
            </a:r>
          </a:p>
          <a:p>
            <a:r>
              <a:rPr lang="en-GB" dirty="0"/>
              <a:t>The graph shows this was breached on Monday, Tuesday and Wednesday. Weekends barely register yet are included in the 1.2 million </a:t>
            </a:r>
            <a:r>
              <a:rPr lang="en-GB" dirty="0" err="1"/>
              <a:t>caoacity</a:t>
            </a:r>
            <a:r>
              <a:rPr lang="en-GB" dirty="0"/>
              <a:t> figures which will skew the data.</a:t>
            </a:r>
          </a:p>
          <a:p>
            <a:r>
              <a:rPr lang="en-GB" dirty="0"/>
              <a:t>Indeed the graph suggests that Tuesday was the busiest day on average. But maybe not all is at it seems.</a:t>
            </a:r>
          </a:p>
        </p:txBody>
      </p:sp>
      <p:sp>
        <p:nvSpPr>
          <p:cNvPr id="4" name="Slide Number Placeholder 3"/>
          <p:cNvSpPr>
            <a:spLocks noGrp="1"/>
          </p:cNvSpPr>
          <p:nvPr>
            <p:ph type="sldNum" sz="quarter" idx="5"/>
          </p:nvPr>
        </p:nvSpPr>
        <p:spPr/>
        <p:txBody>
          <a:bodyPr/>
          <a:lstStyle/>
          <a:p>
            <a:fld id="{6C69759C-85FA-4A8A-8586-98F2F4E02323}" type="slidenum">
              <a:rPr lang="en-GB" smtClean="0"/>
              <a:t>5</a:t>
            </a:fld>
            <a:endParaRPr lang="en-GB"/>
          </a:p>
        </p:txBody>
      </p:sp>
    </p:spTree>
    <p:extLst>
      <p:ext uri="{BB962C8B-B14F-4D97-AF65-F5344CB8AC3E}">
        <p14:creationId xmlns:p14="http://schemas.microsoft.com/office/powerpoint/2010/main" val="1381681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heatmap shows which days are the busiest for the period August 2021 to June 2022</a:t>
            </a:r>
          </a:p>
          <a:p>
            <a:r>
              <a:rPr lang="en-GB" dirty="0"/>
              <a:t>Each square represents a day and each week flows from left to right.</a:t>
            </a:r>
          </a:p>
          <a:p>
            <a:r>
              <a:rPr lang="en-GB" dirty="0"/>
              <a:t>The darker the square the higher the number of appointments on that day. So yellow is low, and dark blue high.</a:t>
            </a:r>
          </a:p>
          <a:p>
            <a:r>
              <a:rPr lang="en-GB" dirty="0"/>
              <a:t>Now we can see some </a:t>
            </a:r>
            <a:r>
              <a:rPr lang="en-GB" dirty="0" err="1"/>
              <a:t>Mondays’s</a:t>
            </a:r>
            <a:r>
              <a:rPr lang="en-GB" dirty="0"/>
              <a:t> had very few appointments, these look like bank holidays when GP surgeries were likely closed. But as we saw previously the capacity figure doesn’t take this into account</a:t>
            </a:r>
          </a:p>
          <a:p>
            <a:r>
              <a:rPr lang="en-GB" dirty="0"/>
              <a:t>The same situation arises with weekends, where there are very few appointments. There was an increase in Saturday appointments between September and December of 20221. </a:t>
            </a:r>
          </a:p>
          <a:p>
            <a:r>
              <a:rPr lang="en-GB" dirty="0"/>
              <a:t>So using a capacity figure of 1.2 Million for every day simply doesn’t work and skews the data</a:t>
            </a:r>
          </a:p>
          <a:p>
            <a:r>
              <a:rPr lang="en-GB" dirty="0"/>
              <a:t>It’s also likely that the actual number of appointments is actually higher than the data may at first suggest, Indeed Monday is likely the busiest day as could be expected after two days when appointments were unavailable.</a:t>
            </a:r>
          </a:p>
          <a:p>
            <a:endParaRPr lang="en-GB" dirty="0"/>
          </a:p>
        </p:txBody>
      </p:sp>
      <p:sp>
        <p:nvSpPr>
          <p:cNvPr id="4" name="Slide Number Placeholder 3"/>
          <p:cNvSpPr>
            <a:spLocks noGrp="1"/>
          </p:cNvSpPr>
          <p:nvPr>
            <p:ph type="sldNum" sz="quarter" idx="5"/>
          </p:nvPr>
        </p:nvSpPr>
        <p:spPr/>
        <p:txBody>
          <a:bodyPr/>
          <a:lstStyle/>
          <a:p>
            <a:fld id="{6C69759C-85FA-4A8A-8586-98F2F4E02323}" type="slidenum">
              <a:rPr lang="en-GB" smtClean="0"/>
              <a:t>6</a:t>
            </a:fld>
            <a:endParaRPr lang="en-GB"/>
          </a:p>
        </p:txBody>
      </p:sp>
    </p:spTree>
    <p:extLst>
      <p:ext uri="{BB962C8B-B14F-4D97-AF65-F5344CB8AC3E}">
        <p14:creationId xmlns:p14="http://schemas.microsoft.com/office/powerpoint/2010/main" val="435094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turning to seasonal trends. The red horizontal line represents the 1.2 million capacity.</a:t>
            </a:r>
          </a:p>
          <a:p>
            <a:r>
              <a:rPr lang="en-GB" dirty="0"/>
              <a:t>We can see how each weeks starts off with high demand then tends to drop off a bit later in the week. The orange lines represent demand for GP appointments.</a:t>
            </a:r>
          </a:p>
          <a:p>
            <a:r>
              <a:rPr lang="en-GB" dirty="0"/>
              <a:t>The summer season (August) is very similar and indeed suggests capacity is above demand.</a:t>
            </a:r>
          </a:p>
          <a:p>
            <a:r>
              <a:rPr lang="en-GB" dirty="0"/>
              <a:t>Moving onto the Autumn months (September to November), the situation changes, with a greater demand on services.</a:t>
            </a:r>
          </a:p>
          <a:p>
            <a:r>
              <a:rPr lang="en-GB" dirty="0"/>
              <a:t>We can see that capacity is starting to be breached, particularly in the first half of the week, although demand does increase later in the week as we move into October/November.</a:t>
            </a:r>
          </a:p>
          <a:p>
            <a:r>
              <a:rPr lang="en-GB" dirty="0"/>
              <a:t>A Similar picture with the winter months of December to February, although Thursday and Friday seem less in demand.</a:t>
            </a:r>
          </a:p>
          <a:p>
            <a:r>
              <a:rPr lang="en-GB" dirty="0"/>
              <a:t>Note the dip around Christmas and New Year, which is to be expected as GPs are closed.</a:t>
            </a:r>
          </a:p>
          <a:p>
            <a:r>
              <a:rPr lang="en-GB" dirty="0"/>
              <a:t>Into Spring and the months of March to May, its again a similar picture with a slight dip in demand during April, this was around Easter.</a:t>
            </a:r>
          </a:p>
          <a:p>
            <a:endParaRPr lang="en-GB" dirty="0"/>
          </a:p>
        </p:txBody>
      </p:sp>
      <p:sp>
        <p:nvSpPr>
          <p:cNvPr id="4" name="Slide Number Placeholder 3"/>
          <p:cNvSpPr>
            <a:spLocks noGrp="1"/>
          </p:cNvSpPr>
          <p:nvPr>
            <p:ph type="sldNum" sz="quarter" idx="5"/>
          </p:nvPr>
        </p:nvSpPr>
        <p:spPr/>
        <p:txBody>
          <a:bodyPr/>
          <a:lstStyle/>
          <a:p>
            <a:fld id="{6C69759C-85FA-4A8A-8586-98F2F4E02323}" type="slidenum">
              <a:rPr lang="en-GB" smtClean="0"/>
              <a:t>7</a:t>
            </a:fld>
            <a:endParaRPr lang="en-GB"/>
          </a:p>
        </p:txBody>
      </p:sp>
    </p:spTree>
    <p:extLst>
      <p:ext uri="{BB962C8B-B14F-4D97-AF65-F5344CB8AC3E}">
        <p14:creationId xmlns:p14="http://schemas.microsoft.com/office/powerpoint/2010/main" val="108559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turn to how appointments were delivered over time.</a:t>
            </a:r>
          </a:p>
          <a:p>
            <a:r>
              <a:rPr lang="en-GB" dirty="0"/>
              <a:t>We’re going back in time for this looking at the period January 2020 – June 2022</a:t>
            </a:r>
          </a:p>
          <a:p>
            <a:r>
              <a:rPr lang="en-GB" dirty="0"/>
              <a:t>Now there’s a good reason for this. This is the Covid period which caused massive upheaval particularly to the NHS</a:t>
            </a:r>
          </a:p>
          <a:p>
            <a:r>
              <a:rPr lang="en-GB" dirty="0"/>
              <a:t>The red vertical line represent the start of covid lockdowns</a:t>
            </a:r>
          </a:p>
          <a:p>
            <a:r>
              <a:rPr lang="en-GB" dirty="0"/>
              <a:t>We can see a sharp drop in face to face appointments (blue line) and at the same time a smaller increase in telephone based appointments (green line)</a:t>
            </a:r>
          </a:p>
          <a:p>
            <a:r>
              <a:rPr lang="en-GB" dirty="0"/>
              <a:t>By May face to face appointments are increasing again, interestingly so are telephone appointments.</a:t>
            </a:r>
          </a:p>
          <a:p>
            <a:r>
              <a:rPr lang="en-GB" dirty="0"/>
              <a:t>For the second lockdown telephone appointments remain steady but face to face once again sharply decline</a:t>
            </a:r>
          </a:p>
          <a:p>
            <a:r>
              <a:rPr lang="en-GB" dirty="0"/>
              <a:t>After the lockdowns, face to face appointments have been up and down while the numbers of telephone appointments has remained relatively steady.</a:t>
            </a:r>
          </a:p>
        </p:txBody>
      </p:sp>
      <p:sp>
        <p:nvSpPr>
          <p:cNvPr id="4" name="Slide Number Placeholder 3"/>
          <p:cNvSpPr>
            <a:spLocks noGrp="1"/>
          </p:cNvSpPr>
          <p:nvPr>
            <p:ph type="sldNum" sz="quarter" idx="5"/>
          </p:nvPr>
        </p:nvSpPr>
        <p:spPr/>
        <p:txBody>
          <a:bodyPr/>
          <a:lstStyle/>
          <a:p>
            <a:fld id="{6C69759C-85FA-4A8A-8586-98F2F4E02323}" type="slidenum">
              <a:rPr lang="en-GB" smtClean="0"/>
              <a:t>8</a:t>
            </a:fld>
            <a:endParaRPr lang="en-GB"/>
          </a:p>
        </p:txBody>
      </p:sp>
    </p:spTree>
    <p:extLst>
      <p:ext uri="{BB962C8B-B14F-4D97-AF65-F5344CB8AC3E}">
        <p14:creationId xmlns:p14="http://schemas.microsoft.com/office/powerpoint/2010/main" val="2433845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same period looking at attendance. The categories are ‘Attended’ , ‘Unknown’ and ‘Did not attended after appointment was made’ Attendance dropped during the first covid lockdown (red vertical lines) suggesting less appointments were made. At the same time there is an increase in the ‘Unknown’ category</a:t>
            </a:r>
          </a:p>
          <a:p>
            <a:r>
              <a:rPr lang="en-GB" dirty="0"/>
              <a:t>Looking at the bottom graph, the ‘attended’ status has been removed to gain a clearer understanding </a:t>
            </a:r>
          </a:p>
          <a:p>
            <a:r>
              <a:rPr lang="en-GB" dirty="0"/>
              <a:t>‘Unknown’ increases by 1 million, so we see an issue with data recording again. At the same time DNA (Did Not Attended) </a:t>
            </a:r>
            <a:r>
              <a:rPr lang="en-GB" dirty="0" err="1"/>
              <a:t>fallssharply</a:t>
            </a:r>
            <a:r>
              <a:rPr lang="en-GB" dirty="0"/>
              <a:t>, although quickly increased again during the following months</a:t>
            </a:r>
          </a:p>
          <a:p>
            <a:r>
              <a:rPr lang="en-GB" dirty="0"/>
              <a:t>There is a significant increase in both ‘Unknown’ and ‘DNA’ during October 2021 which seems to coincide with the covid vaccine rollout.</a:t>
            </a:r>
          </a:p>
        </p:txBody>
      </p:sp>
      <p:sp>
        <p:nvSpPr>
          <p:cNvPr id="4" name="Slide Number Placeholder 3"/>
          <p:cNvSpPr>
            <a:spLocks noGrp="1"/>
          </p:cNvSpPr>
          <p:nvPr>
            <p:ph type="sldNum" sz="quarter" idx="5"/>
          </p:nvPr>
        </p:nvSpPr>
        <p:spPr/>
        <p:txBody>
          <a:bodyPr/>
          <a:lstStyle/>
          <a:p>
            <a:fld id="{6C69759C-85FA-4A8A-8586-98F2F4E02323}" type="slidenum">
              <a:rPr lang="en-GB" smtClean="0"/>
              <a:t>9</a:t>
            </a:fld>
            <a:endParaRPr lang="en-GB"/>
          </a:p>
        </p:txBody>
      </p:sp>
    </p:spTree>
    <p:extLst>
      <p:ext uri="{BB962C8B-B14F-4D97-AF65-F5344CB8AC3E}">
        <p14:creationId xmlns:p14="http://schemas.microsoft.com/office/powerpoint/2010/main" val="4103128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ascertain whether it could be predicted when patients were most likely to not attend appointments it’s worth looking at how the number of missed appointments corresponds to the wait time between making and appointment and attending.</a:t>
            </a:r>
          </a:p>
          <a:p>
            <a:r>
              <a:rPr lang="en-GB" dirty="0"/>
              <a:t>In this case it seems that 2-7 days is the most likely to not be attended. WE could assume that patients felt better during that time and didn’t bother attending. Interestingly 22-28 days, and more than 28 days,  were the least likely to be missed. These may be appointments that are for continuing treatment or situations where there is no immediate rush to be seen.</a:t>
            </a:r>
          </a:p>
        </p:txBody>
      </p:sp>
      <p:sp>
        <p:nvSpPr>
          <p:cNvPr id="4" name="Slide Number Placeholder 3"/>
          <p:cNvSpPr>
            <a:spLocks noGrp="1"/>
          </p:cNvSpPr>
          <p:nvPr>
            <p:ph type="sldNum" sz="quarter" idx="5"/>
          </p:nvPr>
        </p:nvSpPr>
        <p:spPr/>
        <p:txBody>
          <a:bodyPr/>
          <a:lstStyle/>
          <a:p>
            <a:fld id="{6C69759C-85FA-4A8A-8586-98F2F4E02323}" type="slidenum">
              <a:rPr lang="en-GB" smtClean="0"/>
              <a:t>10</a:t>
            </a:fld>
            <a:endParaRPr lang="en-GB"/>
          </a:p>
        </p:txBody>
      </p:sp>
    </p:spTree>
    <p:extLst>
      <p:ext uri="{BB962C8B-B14F-4D97-AF65-F5344CB8AC3E}">
        <p14:creationId xmlns:p14="http://schemas.microsoft.com/office/powerpoint/2010/main" val="1190473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we can see the attendance status across the top sub </a:t>
            </a:r>
            <a:r>
              <a:rPr lang="en-GB" dirty="0" err="1"/>
              <a:t>icb</a:t>
            </a:r>
            <a:r>
              <a:rPr lang="en-GB" dirty="0"/>
              <a:t> locations by DNA</a:t>
            </a:r>
          </a:p>
          <a:p>
            <a:r>
              <a:rPr lang="en-GB" dirty="0"/>
              <a:t>Most appointments are attended as scheduled </a:t>
            </a:r>
          </a:p>
          <a:p>
            <a:r>
              <a:rPr lang="en-GB" dirty="0"/>
              <a:t>However it can be seen that up to 5.8% are not in the </a:t>
            </a:r>
            <a:r>
              <a:rPr lang="en-GB" dirty="0" err="1"/>
              <a:t>nwrost</a:t>
            </a:r>
            <a:r>
              <a:rPr lang="en-GB" dirty="0"/>
              <a:t> performing locations, that equates to nearly 70,000 missed appointments a day at a cost of £2 Million</a:t>
            </a:r>
          </a:p>
          <a:p>
            <a:r>
              <a:rPr lang="en-GB" dirty="0"/>
              <a:t>3.9%-4.8% are unknown, so the situation could be worse and better</a:t>
            </a:r>
          </a:p>
        </p:txBody>
      </p:sp>
      <p:sp>
        <p:nvSpPr>
          <p:cNvPr id="4" name="Slide Number Placeholder 3"/>
          <p:cNvSpPr>
            <a:spLocks noGrp="1"/>
          </p:cNvSpPr>
          <p:nvPr>
            <p:ph type="sldNum" sz="quarter" idx="5"/>
          </p:nvPr>
        </p:nvSpPr>
        <p:spPr/>
        <p:txBody>
          <a:bodyPr/>
          <a:lstStyle/>
          <a:p>
            <a:fld id="{6C69759C-85FA-4A8A-8586-98F2F4E02323}" type="slidenum">
              <a:rPr lang="en-GB" smtClean="0"/>
              <a:t>11</a:t>
            </a:fld>
            <a:endParaRPr lang="en-GB"/>
          </a:p>
        </p:txBody>
      </p:sp>
    </p:spTree>
    <p:extLst>
      <p:ext uri="{BB962C8B-B14F-4D97-AF65-F5344CB8AC3E}">
        <p14:creationId xmlns:p14="http://schemas.microsoft.com/office/powerpoint/2010/main" val="2979280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Utilisation of resources</a:t>
            </a:r>
          </a:p>
          <a:p>
            <a:r>
              <a:rPr lang="en-GB" dirty="0"/>
              <a:t>The grey blocks signify the covid lockdowns. Each red dot represents over 100% utilisation.</a:t>
            </a:r>
          </a:p>
          <a:p>
            <a:r>
              <a:rPr lang="en-GB" dirty="0"/>
              <a:t>During the first lockdown utilisation was very low, but as we’ve seen less appointments were made during this period, so that’s hardly surprising.</a:t>
            </a:r>
          </a:p>
          <a:p>
            <a:r>
              <a:rPr lang="en-GB" dirty="0"/>
              <a:t>Over utilisation does vary, but it appears to occur during the Autumn predominately. Indeed the months of September, October and November show over utilisation for both 2020 and 2021.</a:t>
            </a:r>
          </a:p>
          <a:p>
            <a:r>
              <a:rPr lang="en-GB" dirty="0"/>
              <a:t>There is also a smaller peak in winter to Spring of 2022</a:t>
            </a:r>
          </a:p>
          <a:p>
            <a:r>
              <a:rPr lang="en-GB" dirty="0"/>
              <a:t>So it looks like we may be able to predict those periods where utilisation will be a problem.</a:t>
            </a:r>
          </a:p>
          <a:p>
            <a:endParaRPr lang="en-GB" dirty="0"/>
          </a:p>
        </p:txBody>
      </p:sp>
      <p:sp>
        <p:nvSpPr>
          <p:cNvPr id="4" name="Slide Number Placeholder 3"/>
          <p:cNvSpPr>
            <a:spLocks noGrp="1"/>
          </p:cNvSpPr>
          <p:nvPr>
            <p:ph type="sldNum" sz="quarter" idx="5"/>
          </p:nvPr>
        </p:nvSpPr>
        <p:spPr/>
        <p:txBody>
          <a:bodyPr/>
          <a:lstStyle/>
          <a:p>
            <a:fld id="{6C69759C-85FA-4A8A-8586-98F2F4E02323}" type="slidenum">
              <a:rPr lang="en-GB" smtClean="0"/>
              <a:t>12</a:t>
            </a:fld>
            <a:endParaRPr lang="en-GB"/>
          </a:p>
        </p:txBody>
      </p:sp>
    </p:spTree>
    <p:extLst>
      <p:ext uri="{BB962C8B-B14F-4D97-AF65-F5344CB8AC3E}">
        <p14:creationId xmlns:p14="http://schemas.microsoft.com/office/powerpoint/2010/main" val="782868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insights and trends discovered</a:t>
            </a:r>
          </a:p>
          <a:p>
            <a:r>
              <a:rPr lang="en-GB" dirty="0"/>
              <a:t>It’s evident that the NHS does indeed have an issue with capacity and resource management. Using the figure of 1.2 Million appointments as capacity for each day makes no sense. It should be demand driven. Weekends are always going to be well under this capacity figure, so resources should be utilised to those days, weeks or months of high demand and reduced when demand is lower.</a:t>
            </a:r>
          </a:p>
          <a:p>
            <a:r>
              <a:rPr lang="en-GB" dirty="0"/>
              <a:t>It may not be a case of lack of resources but more the resources aren’t available at the right times.</a:t>
            </a:r>
          </a:p>
          <a:p>
            <a:r>
              <a:rPr lang="en-GB" dirty="0"/>
              <a:t>Patients not attending appointments is a big issue and creates a problem with availability of appointments, not to mention the financial burden.</a:t>
            </a:r>
          </a:p>
          <a:p>
            <a:r>
              <a:rPr lang="en-GB" dirty="0"/>
              <a:t>Across the whole analysis data quality or lack of data has been an issue. It is vital have reliable and consistent data collection in place to be able to have a clear picture of the situation.</a:t>
            </a:r>
          </a:p>
        </p:txBody>
      </p:sp>
      <p:sp>
        <p:nvSpPr>
          <p:cNvPr id="4" name="Slide Number Placeholder 3"/>
          <p:cNvSpPr>
            <a:spLocks noGrp="1"/>
          </p:cNvSpPr>
          <p:nvPr>
            <p:ph type="sldNum" sz="quarter" idx="5"/>
          </p:nvPr>
        </p:nvSpPr>
        <p:spPr/>
        <p:txBody>
          <a:bodyPr/>
          <a:lstStyle/>
          <a:p>
            <a:fld id="{6C69759C-85FA-4A8A-8586-98F2F4E02323}" type="slidenum">
              <a:rPr lang="en-GB" smtClean="0"/>
              <a:t>14</a:t>
            </a:fld>
            <a:endParaRPr lang="en-GB"/>
          </a:p>
        </p:txBody>
      </p:sp>
    </p:spTree>
    <p:extLst>
      <p:ext uri="{BB962C8B-B14F-4D97-AF65-F5344CB8AC3E}">
        <p14:creationId xmlns:p14="http://schemas.microsoft.com/office/powerpoint/2010/main" val="3508916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to the recommendations</a:t>
            </a:r>
          </a:p>
          <a:p>
            <a:r>
              <a:rPr lang="en-GB" dirty="0"/>
              <a:t>First and foremost, improve the administration of data, Ensure all staff are recording data accurately and in a timely fashion.</a:t>
            </a:r>
          </a:p>
          <a:p>
            <a:r>
              <a:rPr lang="en-GB" dirty="0"/>
              <a:t>The capacity levels should be based on demand, and resources utilised as necessary for the peaks and troughs in demand. It may not be a question of more staff, but more a question of how they are utilised.</a:t>
            </a:r>
          </a:p>
          <a:p>
            <a:r>
              <a:rPr lang="en-GB" dirty="0"/>
              <a:t>With that historical trends could be used to plan ahead. Having said that the data from the time period here probably doesn’t represent typical years, a pandemic isn’t a yearly occurrence,  so some caution should be used.</a:t>
            </a:r>
          </a:p>
          <a:p>
            <a:r>
              <a:rPr lang="en-GB" dirty="0"/>
              <a:t>The issue of non attendance needs addressing. Maybe the use of technology through text or email reminders. However not everyone is tech </a:t>
            </a:r>
            <a:r>
              <a:rPr lang="en-GB" dirty="0" err="1"/>
              <a:t>savy</a:t>
            </a:r>
            <a:r>
              <a:rPr lang="en-GB" dirty="0"/>
              <a:t> </a:t>
            </a:r>
            <a:r>
              <a:rPr lang="en-GB" dirty="0" err="1"/>
              <a:t>particulaly</a:t>
            </a:r>
            <a:r>
              <a:rPr lang="en-GB" dirty="0"/>
              <a:t> the elderly.</a:t>
            </a:r>
          </a:p>
          <a:p>
            <a:r>
              <a:rPr lang="en-GB" dirty="0"/>
              <a:t>In the same vein, maybe review how appointments are made, rescheduled and even cancelled. Would the use of an app or patient portal help make this an easy and quick process.</a:t>
            </a:r>
          </a:p>
          <a:p>
            <a:r>
              <a:rPr lang="en-GB" dirty="0"/>
              <a:t>The collection of demographic data may also help ascertain if it’s  certain groups who are  non attendance</a:t>
            </a:r>
          </a:p>
        </p:txBody>
      </p:sp>
      <p:sp>
        <p:nvSpPr>
          <p:cNvPr id="4" name="Slide Number Placeholder 3"/>
          <p:cNvSpPr>
            <a:spLocks noGrp="1"/>
          </p:cNvSpPr>
          <p:nvPr>
            <p:ph type="sldNum" sz="quarter" idx="5"/>
          </p:nvPr>
        </p:nvSpPr>
        <p:spPr/>
        <p:txBody>
          <a:bodyPr/>
          <a:lstStyle/>
          <a:p>
            <a:fld id="{6C69759C-85FA-4A8A-8586-98F2F4E02323}" type="slidenum">
              <a:rPr lang="en-GB" smtClean="0"/>
              <a:t>15</a:t>
            </a:fld>
            <a:endParaRPr lang="en-GB"/>
          </a:p>
        </p:txBody>
      </p:sp>
    </p:spTree>
    <p:extLst>
      <p:ext uri="{BB962C8B-B14F-4D97-AF65-F5344CB8AC3E}">
        <p14:creationId xmlns:p14="http://schemas.microsoft.com/office/powerpoint/2010/main" val="1883089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conclude, the analysis suggests the system is under strain during busy periods. The NHS should look at reviewing capacity and utilisation to meet demands as and when needed.</a:t>
            </a:r>
          </a:p>
          <a:p>
            <a:r>
              <a:rPr lang="en-GB" dirty="0"/>
              <a:t>Data quality remains an issue and the non attendance situation needs to be addressed.</a:t>
            </a:r>
          </a:p>
          <a:p>
            <a:r>
              <a:rPr lang="en-GB" dirty="0"/>
              <a:t>Social media is under </a:t>
            </a:r>
            <a:r>
              <a:rPr lang="en-GB" dirty="0" err="1"/>
              <a:t>utillised</a:t>
            </a:r>
            <a:r>
              <a:rPr lang="en-GB" dirty="0"/>
              <a:t>, patients are more than likely to have mobile phones and use social media. Now while such systems may already exist through websites, it’s a question of ensuring they are easy to use and functioning., so here is an opportunity to bring the NHS into the 21</a:t>
            </a:r>
            <a:r>
              <a:rPr lang="en-GB" baseline="30000" dirty="0"/>
              <a:t>st</a:t>
            </a:r>
            <a:r>
              <a:rPr lang="en-GB" dirty="0"/>
              <a:t> century</a:t>
            </a:r>
          </a:p>
        </p:txBody>
      </p:sp>
      <p:sp>
        <p:nvSpPr>
          <p:cNvPr id="4" name="Slide Number Placeholder 3"/>
          <p:cNvSpPr>
            <a:spLocks noGrp="1"/>
          </p:cNvSpPr>
          <p:nvPr>
            <p:ph type="sldNum" sz="quarter" idx="5"/>
          </p:nvPr>
        </p:nvSpPr>
        <p:spPr/>
        <p:txBody>
          <a:bodyPr/>
          <a:lstStyle/>
          <a:p>
            <a:fld id="{6C69759C-85FA-4A8A-8586-98F2F4E02323}" type="slidenum">
              <a:rPr lang="en-GB" smtClean="0"/>
              <a:t>16</a:t>
            </a:fld>
            <a:endParaRPr lang="en-GB"/>
          </a:p>
        </p:txBody>
      </p:sp>
    </p:spTree>
    <p:extLst>
      <p:ext uri="{BB962C8B-B14F-4D97-AF65-F5344CB8AC3E}">
        <p14:creationId xmlns:p14="http://schemas.microsoft.com/office/powerpoint/2010/main" val="900678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BA618-265A-68AD-9E5C-2BC9D48E93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30FAFEF-8793-777D-71D6-D914D47E6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EE06F44-2CDE-7539-4601-646B4764A98F}"/>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8BC6791A-159D-C162-8A9A-25AA999099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31AA83-15F1-321C-FD9E-BB28706796F9}"/>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289964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937E5-84AB-5858-64CF-FD85E9FFE52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D38B042-0EB7-E7ED-D28C-AB9D548A1A6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A9B1FC0-27C3-0991-7DDA-DDEF0FF99634}"/>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3A4B3B00-0EB8-110C-AE25-4F980DBFA7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661594-48E7-8976-7A51-E9110B1F0EDA}"/>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316452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C426-52F6-1806-E785-82DAF1F200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1532CC9-F847-EDEE-4744-37CDC2BC4A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27B6108-87BB-5781-17D8-8CF0DAED2475}"/>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392C9BCA-FBC3-3FD8-440E-0F82CE63EA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152B78-3CAA-61A2-2776-E2AC789E8A9D}"/>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259782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B33A-60DC-1D8A-1FE7-CC10233B47C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588F11-9628-B717-C0A5-EB8522472A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C0A502D-AB18-6436-E4E1-1CEB750D4D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5488ADB-4394-5EB8-639F-FCACA75D44A8}"/>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6" name="Footer Placeholder 5">
            <a:extLst>
              <a:ext uri="{FF2B5EF4-FFF2-40B4-BE49-F238E27FC236}">
                <a16:creationId xmlns:a16="http://schemas.microsoft.com/office/drawing/2014/main" id="{F51A66EB-43D3-8E04-6B51-35CA127C57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645FCE-8599-6E3B-5AF1-12649C47AF8F}"/>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944345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533AF-9EBE-43C5-8EAD-806E0C41E06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330097F-3788-5FAA-8C8D-E5BCF9535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E434CB-5F55-5456-B59F-2F62C77A339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06D46F4A-78F5-765E-FABF-8AB23DB0C8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172CCDE-3D1E-877D-5BDC-D3BE6F03949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22EADE5-2E13-759F-5661-6B8E0ECCA79F}"/>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8" name="Footer Placeholder 7">
            <a:extLst>
              <a:ext uri="{FF2B5EF4-FFF2-40B4-BE49-F238E27FC236}">
                <a16:creationId xmlns:a16="http://schemas.microsoft.com/office/drawing/2014/main" id="{D9EC464C-BC85-022A-AA07-7B659CC2BDA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61CA0B4-8C7E-515E-2397-AD849CD4E405}"/>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2623468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08423-EAAE-3FAD-8C58-E08BCC0070D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A368039-7596-F710-4E54-4C5EE3F11080}"/>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4" name="Footer Placeholder 3">
            <a:extLst>
              <a:ext uri="{FF2B5EF4-FFF2-40B4-BE49-F238E27FC236}">
                <a16:creationId xmlns:a16="http://schemas.microsoft.com/office/drawing/2014/main" id="{40B821BD-8F43-1C87-D3F9-8F29EB84988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2BB8F1F-A309-17ED-E501-C09E42445304}"/>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1905017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48878B-8DB3-DF4A-C559-E18C5E712709}"/>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3" name="Footer Placeholder 2">
            <a:extLst>
              <a:ext uri="{FF2B5EF4-FFF2-40B4-BE49-F238E27FC236}">
                <a16:creationId xmlns:a16="http://schemas.microsoft.com/office/drawing/2014/main" id="{85A2A7DC-3909-BC36-B47D-1FF073B8740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967BDA9-BD10-57C9-55AF-8CDE6293DD57}"/>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89437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DA9B-517A-985E-71F5-47B76853CF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7F5614B-CF84-11DC-0F5B-2EB7F9F468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C30156F-9AD2-827E-E373-5BFF2FE5D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DA1BE3D-E421-E19B-5F6C-C0B51FC7038D}"/>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6" name="Footer Placeholder 5">
            <a:extLst>
              <a:ext uri="{FF2B5EF4-FFF2-40B4-BE49-F238E27FC236}">
                <a16:creationId xmlns:a16="http://schemas.microsoft.com/office/drawing/2014/main" id="{22DE94BA-CC7B-10FD-DEB7-000AF22F19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0117FC9-C776-E055-7ED5-8B525378F0D3}"/>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1601251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815B7-E333-A8EB-7E09-9C9A24F72A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0039DC8-17CD-D807-946A-D90F6FE3D1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82D7838-1AA9-DFCA-96CA-B3E2819D3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26CA66-00D4-5964-245B-C3E44FD830A8}"/>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6" name="Footer Placeholder 5">
            <a:extLst>
              <a:ext uri="{FF2B5EF4-FFF2-40B4-BE49-F238E27FC236}">
                <a16:creationId xmlns:a16="http://schemas.microsoft.com/office/drawing/2014/main" id="{B422029C-733D-942F-1CE7-0DE5B78874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B5B140-A569-F395-1B29-6B893617CF6C}"/>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3811379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9EA58-DADD-CCA5-B8AE-2E579016FE5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9D0A36D-2D78-5898-01D3-5F71867DCF6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9A65BD-94F9-29BC-7CA7-A6C7D7160C6B}"/>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6D105B8A-FF4E-9EEC-1D22-4AA817CFD2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46ADCF-C775-DEC7-0F9B-4F34CC848591}"/>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1047737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5E505D-12EF-EF8E-1756-D44781ECFE0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460ED78-C1D1-9AE7-B20C-9A8C768C9F0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F029647-99D5-D4E5-DEC1-390FF55BC818}"/>
              </a:ext>
            </a:extLst>
          </p:cNvPr>
          <p:cNvSpPr>
            <a:spLocks noGrp="1"/>
          </p:cNvSpPr>
          <p:nvPr>
            <p:ph type="dt" sz="half" idx="10"/>
          </p:nvPr>
        </p:nvSpPr>
        <p:spPr/>
        <p:txBody>
          <a:body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D6C062B4-9C59-695D-6D46-F3B7205318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9B6C8E-7427-41E6-046D-969E7D3B3FF2}"/>
              </a:ext>
            </a:extLst>
          </p:cNvPr>
          <p:cNvSpPr>
            <a:spLocks noGrp="1"/>
          </p:cNvSpPr>
          <p:nvPr>
            <p:ph type="sldNum" sz="quarter" idx="12"/>
          </p:nvPr>
        </p:nvSpPr>
        <p:spPr/>
        <p:txBody>
          <a:bodyPr/>
          <a:lstStyle/>
          <a:p>
            <a:fld id="{66AE16A7-4D43-4E7D-B422-D7B0E2F7A06E}" type="slidenum">
              <a:rPr lang="en-GB" smtClean="0"/>
              <a:t>‹#›</a:t>
            </a:fld>
            <a:endParaRPr lang="en-GB"/>
          </a:p>
        </p:txBody>
      </p:sp>
    </p:spTree>
    <p:extLst>
      <p:ext uri="{BB962C8B-B14F-4D97-AF65-F5344CB8AC3E}">
        <p14:creationId xmlns:p14="http://schemas.microsoft.com/office/powerpoint/2010/main" val="2582308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6B1D59-0D33-5347-68CC-1DCCFCAE81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48171AF-51DE-0803-2DD1-FF0631B940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E7E39AA-9C50-12B1-C10B-B2216B1F25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CB6F83-A7A7-4405-AE03-F26A1CD8D9C1}" type="datetimeFigureOut">
              <a:rPr lang="en-GB" smtClean="0"/>
              <a:t>12/07/2026</a:t>
            </a:fld>
            <a:endParaRPr lang="en-GB"/>
          </a:p>
        </p:txBody>
      </p:sp>
      <p:sp>
        <p:nvSpPr>
          <p:cNvPr id="5" name="Footer Placeholder 4">
            <a:extLst>
              <a:ext uri="{FF2B5EF4-FFF2-40B4-BE49-F238E27FC236}">
                <a16:creationId xmlns:a16="http://schemas.microsoft.com/office/drawing/2014/main" id="{86791196-841C-F53A-89AD-73341385C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E3805B5-354F-4DC7-6F7D-F4CF40F79C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AE16A7-4D43-4E7D-B422-D7B0E2F7A06E}" type="slidenum">
              <a:rPr lang="en-GB" smtClean="0"/>
              <a:t>‹#›</a:t>
            </a:fld>
            <a:endParaRPr lang="en-GB"/>
          </a:p>
        </p:txBody>
      </p:sp>
    </p:spTree>
    <p:extLst>
      <p:ext uri="{BB962C8B-B14F-4D97-AF65-F5344CB8AC3E}">
        <p14:creationId xmlns:p14="http://schemas.microsoft.com/office/powerpoint/2010/main" val="278801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104D9E-6952-D3AA-CCA4-DBEBBE37C239}"/>
              </a:ext>
            </a:extLst>
          </p:cNvPr>
          <p:cNvSpPr txBox="1"/>
          <p:nvPr/>
        </p:nvSpPr>
        <p:spPr>
          <a:xfrm>
            <a:off x="670560" y="1607820"/>
            <a:ext cx="4328160" cy="3877985"/>
          </a:xfrm>
          <a:prstGeom prst="rect">
            <a:avLst/>
          </a:prstGeom>
          <a:noFill/>
        </p:spPr>
        <p:txBody>
          <a:bodyPr wrap="square" rtlCol="0">
            <a:spAutoFit/>
          </a:bodyPr>
          <a:lstStyle/>
          <a:p>
            <a:r>
              <a:rPr lang="en-GB" sz="4800" b="1" dirty="0"/>
              <a:t>NHS</a:t>
            </a:r>
          </a:p>
          <a:p>
            <a:endParaRPr lang="en-GB" dirty="0"/>
          </a:p>
          <a:p>
            <a:r>
              <a:rPr lang="en-GB" sz="3600" dirty="0"/>
              <a:t>Healthcare: Appointments, </a:t>
            </a:r>
          </a:p>
          <a:p>
            <a:r>
              <a:rPr lang="en-GB" sz="3600" dirty="0"/>
              <a:t>Utilisation &amp; Capacity Analysis</a:t>
            </a:r>
          </a:p>
          <a:p>
            <a:endParaRPr lang="en-GB" dirty="0"/>
          </a:p>
          <a:p>
            <a:endParaRPr lang="en-GB" dirty="0"/>
          </a:p>
        </p:txBody>
      </p:sp>
      <p:sp>
        <p:nvSpPr>
          <p:cNvPr id="3" name="TextBox 2">
            <a:extLst>
              <a:ext uri="{FF2B5EF4-FFF2-40B4-BE49-F238E27FC236}">
                <a16:creationId xmlns:a16="http://schemas.microsoft.com/office/drawing/2014/main" id="{8E795E41-5443-87C5-1DF9-52FD66D04A82}"/>
              </a:ext>
            </a:extLst>
          </p:cNvPr>
          <p:cNvSpPr txBox="1"/>
          <p:nvPr/>
        </p:nvSpPr>
        <p:spPr>
          <a:xfrm>
            <a:off x="746760" y="5638205"/>
            <a:ext cx="4069080" cy="923330"/>
          </a:xfrm>
          <a:prstGeom prst="rect">
            <a:avLst/>
          </a:prstGeom>
          <a:noFill/>
        </p:spPr>
        <p:txBody>
          <a:bodyPr wrap="square" rtlCol="0">
            <a:spAutoFit/>
          </a:bodyPr>
          <a:lstStyle/>
          <a:p>
            <a:r>
              <a:rPr lang="en-GB" dirty="0"/>
              <a:t>A Data Analysis</a:t>
            </a:r>
          </a:p>
          <a:p>
            <a:r>
              <a:rPr lang="en-GB" dirty="0"/>
              <a:t>By </a:t>
            </a:r>
          </a:p>
          <a:p>
            <a:r>
              <a:rPr lang="en-GB" dirty="0"/>
              <a:t>Andrew Willacy</a:t>
            </a:r>
          </a:p>
        </p:txBody>
      </p:sp>
      <p:sp>
        <p:nvSpPr>
          <p:cNvPr id="4" name="TextBox 3">
            <a:extLst>
              <a:ext uri="{FF2B5EF4-FFF2-40B4-BE49-F238E27FC236}">
                <a16:creationId xmlns:a16="http://schemas.microsoft.com/office/drawing/2014/main" id="{5E0AA104-AE52-FBA3-B7B6-F38F75A4328F}"/>
              </a:ext>
            </a:extLst>
          </p:cNvPr>
          <p:cNvSpPr txBox="1"/>
          <p:nvPr/>
        </p:nvSpPr>
        <p:spPr>
          <a:xfrm>
            <a:off x="10233660" y="6214468"/>
            <a:ext cx="2423160" cy="369332"/>
          </a:xfrm>
          <a:prstGeom prst="rect">
            <a:avLst/>
          </a:prstGeom>
          <a:noFill/>
        </p:spPr>
        <p:txBody>
          <a:bodyPr wrap="square" rtlCol="0">
            <a:spAutoFit/>
          </a:bodyPr>
          <a:lstStyle/>
          <a:p>
            <a:r>
              <a:rPr lang="en-GB" dirty="0"/>
              <a:t>August 2025</a:t>
            </a:r>
          </a:p>
        </p:txBody>
      </p:sp>
      <p:pic>
        <p:nvPicPr>
          <p:cNvPr id="6" name="Picture 5">
            <a:extLst>
              <a:ext uri="{FF2B5EF4-FFF2-40B4-BE49-F238E27FC236}">
                <a16:creationId xmlns:a16="http://schemas.microsoft.com/office/drawing/2014/main" id="{8BF23EC6-576A-E41D-F878-7637831DD7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1277" y="436990"/>
            <a:ext cx="3298908" cy="1855636"/>
          </a:xfrm>
          <a:prstGeom prst="rect">
            <a:avLst/>
          </a:prstGeom>
        </p:spPr>
      </p:pic>
    </p:spTree>
    <p:extLst>
      <p:ext uri="{BB962C8B-B14F-4D97-AF65-F5344CB8AC3E}">
        <p14:creationId xmlns:p14="http://schemas.microsoft.com/office/powerpoint/2010/main" val="2311011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3795-1907-9660-C4F1-493B4E38B987}"/>
              </a:ext>
            </a:extLst>
          </p:cNvPr>
          <p:cNvSpPr>
            <a:spLocks noGrp="1"/>
          </p:cNvSpPr>
          <p:nvPr>
            <p:ph type="title"/>
          </p:nvPr>
        </p:nvSpPr>
        <p:spPr>
          <a:xfrm>
            <a:off x="838200" y="365125"/>
            <a:ext cx="10515600" cy="1158875"/>
          </a:xfrm>
        </p:spPr>
        <p:txBody>
          <a:bodyPr>
            <a:normAutofit/>
          </a:bodyPr>
          <a:lstStyle/>
          <a:p>
            <a:r>
              <a:rPr lang="en-GB" sz="4000" dirty="0"/>
              <a:t>Context &amp; background</a:t>
            </a:r>
          </a:p>
        </p:txBody>
      </p:sp>
      <p:sp>
        <p:nvSpPr>
          <p:cNvPr id="4" name="TextBox 3">
            <a:extLst>
              <a:ext uri="{FF2B5EF4-FFF2-40B4-BE49-F238E27FC236}">
                <a16:creationId xmlns:a16="http://schemas.microsoft.com/office/drawing/2014/main" id="{24F7D1F8-D1A6-0490-504B-786A7F04998E}"/>
              </a:ext>
            </a:extLst>
          </p:cNvPr>
          <p:cNvSpPr txBox="1"/>
          <p:nvPr/>
        </p:nvSpPr>
        <p:spPr>
          <a:xfrm>
            <a:off x="952500" y="1645920"/>
            <a:ext cx="8747760" cy="4893647"/>
          </a:xfrm>
          <a:prstGeom prst="rect">
            <a:avLst/>
          </a:prstGeom>
          <a:noFill/>
        </p:spPr>
        <p:txBody>
          <a:bodyPr wrap="square" rtlCol="0">
            <a:spAutoFit/>
          </a:bodyPr>
          <a:lstStyle/>
          <a:p>
            <a:pPr marL="285750" indent="-285750">
              <a:buFont typeface="Arial" panose="020B0604020202020204" pitchFamily="34" charset="0"/>
              <a:buChar char="•"/>
            </a:pPr>
            <a:r>
              <a:rPr lang="en-GB" sz="2400" dirty="0"/>
              <a:t>NHS England has a problem. A problem of limited capacity and resource utilisation</a:t>
            </a:r>
          </a:p>
          <a:p>
            <a:r>
              <a:rPr lang="en-GB" sz="2400" dirty="0"/>
              <a:t>Or does it?</a:t>
            </a:r>
          </a:p>
          <a:p>
            <a:pPr marL="285750" indent="-285750">
              <a:buFont typeface="Arial" panose="020B0604020202020204" pitchFamily="34" charset="0"/>
              <a:buChar char="•"/>
            </a:pPr>
            <a:r>
              <a:rPr lang="en-GB" sz="2400" dirty="0"/>
              <a:t>Missed appointments cost  £30 each, a financial and social burden</a:t>
            </a:r>
          </a:p>
          <a:p>
            <a:pPr marL="285750" indent="-285750">
              <a:buFont typeface="Arial" panose="020B0604020202020204" pitchFamily="34" charset="0"/>
              <a:buChar char="•"/>
            </a:pPr>
            <a:r>
              <a:rPr lang="en-GB" sz="2400" dirty="0"/>
              <a:t>15M missed GP appointments*</a:t>
            </a:r>
          </a:p>
          <a:p>
            <a:pPr marL="285750" indent="-285750">
              <a:buFont typeface="Arial" panose="020B0604020202020204" pitchFamily="34" charset="0"/>
              <a:buChar char="•"/>
            </a:pPr>
            <a:endParaRPr lang="en-GB" sz="2400" dirty="0"/>
          </a:p>
          <a:p>
            <a:r>
              <a:rPr lang="en-GB" sz="2400" dirty="0"/>
              <a:t>The NHS have posed two questions:</a:t>
            </a:r>
          </a:p>
          <a:p>
            <a:pPr marL="457200" indent="-457200">
              <a:buFont typeface="+mj-lt"/>
              <a:buAutoNum type="arabicPeriod"/>
            </a:pPr>
            <a:r>
              <a:rPr lang="en-GB" sz="2400" dirty="0"/>
              <a:t>Has there been adequate staff &amp; capacity in the networks?</a:t>
            </a:r>
          </a:p>
          <a:p>
            <a:pPr marL="457200" indent="-457200">
              <a:buFont typeface="+mj-lt"/>
              <a:buAutoNum type="arabicPeriod"/>
            </a:pPr>
            <a:r>
              <a:rPr lang="en-GB" sz="2400" dirty="0"/>
              <a:t>What was the actual utilisation of resources?</a:t>
            </a:r>
          </a:p>
          <a:p>
            <a:pPr marL="457200" indent="-457200">
              <a:buFont typeface="+mj-lt"/>
              <a:buAutoNum type="arabicPeriod"/>
            </a:pPr>
            <a:endParaRPr lang="en-GB" sz="2400" dirty="0"/>
          </a:p>
          <a:p>
            <a:pPr marL="457200" indent="-457200">
              <a:buFont typeface="+mj-lt"/>
              <a:buAutoNum type="arabicPeriod"/>
            </a:pPr>
            <a:endParaRPr lang="en-GB" sz="2400" dirty="0"/>
          </a:p>
          <a:p>
            <a:pPr marL="457200" indent="-457200">
              <a:buFont typeface="+mj-lt"/>
              <a:buAutoNum type="arabicPeriod"/>
            </a:pPr>
            <a:endParaRPr lang="en-GB" sz="2400" dirty="0"/>
          </a:p>
        </p:txBody>
      </p:sp>
      <p:sp>
        <p:nvSpPr>
          <p:cNvPr id="6" name="TextBox 5">
            <a:extLst>
              <a:ext uri="{FF2B5EF4-FFF2-40B4-BE49-F238E27FC236}">
                <a16:creationId xmlns:a16="http://schemas.microsoft.com/office/drawing/2014/main" id="{30663E74-1F79-2F44-2878-E11B639B55EB}"/>
              </a:ext>
            </a:extLst>
          </p:cNvPr>
          <p:cNvSpPr txBox="1"/>
          <p:nvPr/>
        </p:nvSpPr>
        <p:spPr>
          <a:xfrm>
            <a:off x="838200" y="5402580"/>
            <a:ext cx="11140440" cy="369332"/>
          </a:xfrm>
          <a:prstGeom prst="rect">
            <a:avLst/>
          </a:prstGeom>
          <a:noFill/>
        </p:spPr>
        <p:txBody>
          <a:bodyPr wrap="square" rtlCol="0">
            <a:spAutoFit/>
          </a:bodyPr>
          <a:lstStyle/>
          <a:p>
            <a:r>
              <a:rPr lang="en-GB" dirty="0">
                <a:solidFill>
                  <a:schemeClr val="tx2">
                    <a:lumMod val="50000"/>
                    <a:lumOff val="50000"/>
                  </a:schemeClr>
                </a:solidFill>
              </a:rPr>
              <a:t>*https://www.england.nhs.uk/2019/01/missed-gp-appointments-costing-nhs-millions/</a:t>
            </a:r>
          </a:p>
        </p:txBody>
      </p:sp>
    </p:spTree>
    <p:extLst>
      <p:ext uri="{BB962C8B-B14F-4D97-AF65-F5344CB8AC3E}">
        <p14:creationId xmlns:p14="http://schemas.microsoft.com/office/powerpoint/2010/main" val="3717236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F741-F43C-7FBB-E2BA-E866C069A257}"/>
              </a:ext>
            </a:extLst>
          </p:cNvPr>
          <p:cNvSpPr>
            <a:spLocks noGrp="1"/>
          </p:cNvSpPr>
          <p:nvPr>
            <p:ph type="title"/>
          </p:nvPr>
        </p:nvSpPr>
        <p:spPr/>
        <p:txBody>
          <a:bodyPr>
            <a:normAutofit/>
          </a:bodyPr>
          <a:lstStyle/>
          <a:p>
            <a:r>
              <a:rPr lang="en-GB" sz="4000" dirty="0"/>
              <a:t>Initial Insights</a:t>
            </a:r>
          </a:p>
        </p:txBody>
      </p:sp>
      <p:sp>
        <p:nvSpPr>
          <p:cNvPr id="4" name="TextBox 3">
            <a:extLst>
              <a:ext uri="{FF2B5EF4-FFF2-40B4-BE49-F238E27FC236}">
                <a16:creationId xmlns:a16="http://schemas.microsoft.com/office/drawing/2014/main" id="{79933FA1-C864-ED83-A2ED-BF3ACB3E23B3}"/>
              </a:ext>
            </a:extLst>
          </p:cNvPr>
          <p:cNvSpPr txBox="1"/>
          <p:nvPr/>
        </p:nvSpPr>
        <p:spPr>
          <a:xfrm>
            <a:off x="1104900" y="1897380"/>
            <a:ext cx="8267700" cy="3046988"/>
          </a:xfrm>
          <a:prstGeom prst="rect">
            <a:avLst/>
          </a:prstGeom>
          <a:noFill/>
        </p:spPr>
        <p:txBody>
          <a:bodyPr wrap="square" rtlCol="0">
            <a:spAutoFit/>
          </a:bodyPr>
          <a:lstStyle/>
          <a:p>
            <a:pPr marL="285750" indent="-285750">
              <a:buFont typeface="Arial" panose="020B0604020202020204" pitchFamily="34" charset="0"/>
              <a:buChar char="•"/>
            </a:pPr>
            <a:r>
              <a:rPr lang="en-GB" sz="2400" dirty="0"/>
              <a:t>106 locations across 7 regions</a:t>
            </a:r>
          </a:p>
          <a:p>
            <a:pPr marL="285750" indent="-285750">
              <a:buFont typeface="Arial" panose="020B0604020202020204" pitchFamily="34" charset="0"/>
              <a:buChar char="•"/>
            </a:pPr>
            <a:r>
              <a:rPr lang="en-GB" sz="2400" dirty="0"/>
              <a:t>Face to face appointments most common, followed by telephone</a:t>
            </a:r>
          </a:p>
          <a:p>
            <a:pPr marL="285750" indent="-285750">
              <a:buFont typeface="Arial" panose="020B0604020202020204" pitchFamily="34" charset="0"/>
              <a:buChar char="•"/>
            </a:pPr>
            <a:r>
              <a:rPr lang="en-GB" sz="2400" dirty="0"/>
              <a:t>Covid changed how appointments are delivered </a:t>
            </a:r>
          </a:p>
          <a:p>
            <a:pPr marL="285750" indent="-285750">
              <a:buFont typeface="Arial" panose="020B0604020202020204" pitchFamily="34" charset="0"/>
              <a:buChar char="•"/>
            </a:pPr>
            <a:r>
              <a:rPr lang="en-GB" sz="2400" dirty="0"/>
              <a:t>91% of all appointments attended</a:t>
            </a:r>
          </a:p>
          <a:p>
            <a:pPr marL="285750" indent="-285750">
              <a:buFont typeface="Arial" panose="020B0604020202020204" pitchFamily="34" charset="0"/>
              <a:buChar char="•"/>
            </a:pPr>
            <a:r>
              <a:rPr lang="en-GB" sz="2400" dirty="0"/>
              <a:t>Most GP appointments are same day</a:t>
            </a:r>
          </a:p>
          <a:p>
            <a:pPr marL="285750" indent="-285750">
              <a:buFont typeface="Arial" panose="020B0604020202020204" pitchFamily="34" charset="0"/>
              <a:buChar char="•"/>
            </a:pPr>
            <a:r>
              <a:rPr lang="en-GB" sz="2400" dirty="0"/>
              <a:t>Most appointments are 6-10 minutes in duration</a:t>
            </a:r>
          </a:p>
          <a:p>
            <a:pPr marL="285750" indent="-285750">
              <a:buFont typeface="Arial" panose="020B0604020202020204" pitchFamily="34" charset="0"/>
              <a:buChar char="•"/>
            </a:pPr>
            <a:r>
              <a:rPr lang="en-GB" sz="2400" dirty="0"/>
              <a:t>Unmapped, inconsistent mapping and data quality issues</a:t>
            </a:r>
          </a:p>
        </p:txBody>
      </p:sp>
    </p:spTree>
    <p:extLst>
      <p:ext uri="{BB962C8B-B14F-4D97-AF65-F5344CB8AC3E}">
        <p14:creationId xmlns:p14="http://schemas.microsoft.com/office/powerpoint/2010/main" val="87115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2CED-492F-F4EB-B57A-7C38FC359ACF}"/>
              </a:ext>
            </a:extLst>
          </p:cNvPr>
          <p:cNvSpPr>
            <a:spLocks noGrp="1"/>
          </p:cNvSpPr>
          <p:nvPr>
            <p:ph type="title"/>
          </p:nvPr>
        </p:nvSpPr>
        <p:spPr>
          <a:xfrm>
            <a:off x="838200" y="365125"/>
            <a:ext cx="10515600" cy="755015"/>
          </a:xfrm>
        </p:spPr>
        <p:txBody>
          <a:bodyPr>
            <a:normAutofit/>
          </a:bodyPr>
          <a:lstStyle/>
          <a:p>
            <a:r>
              <a:rPr lang="en-GB" sz="4000" dirty="0"/>
              <a:t>Service settings &amp; context types 08/2021-06-2022</a:t>
            </a:r>
          </a:p>
        </p:txBody>
      </p:sp>
      <p:pic>
        <p:nvPicPr>
          <p:cNvPr id="4" name="Picture 3" descr="A graph of a line&#10;&#10;AI-generated content may be incorrect.">
            <a:extLst>
              <a:ext uri="{FF2B5EF4-FFF2-40B4-BE49-F238E27FC236}">
                <a16:creationId xmlns:a16="http://schemas.microsoft.com/office/drawing/2014/main" id="{AC89B70B-1EEB-369B-588E-F32A217D7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39" y="992728"/>
            <a:ext cx="5295901" cy="2692084"/>
          </a:xfrm>
          <a:prstGeom prst="rect">
            <a:avLst/>
          </a:prstGeom>
        </p:spPr>
      </p:pic>
      <p:pic>
        <p:nvPicPr>
          <p:cNvPr id="6" name="Picture 5" descr="A graph of a line graph&#10;&#10;AI-generated content may be incorrect.">
            <a:extLst>
              <a:ext uri="{FF2B5EF4-FFF2-40B4-BE49-F238E27FC236}">
                <a16:creationId xmlns:a16="http://schemas.microsoft.com/office/drawing/2014/main" id="{35C5AE37-8885-2C6A-464E-30869646FC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3331" y="1058863"/>
            <a:ext cx="5354230" cy="2688109"/>
          </a:xfrm>
          <a:prstGeom prst="rect">
            <a:avLst/>
          </a:prstGeom>
        </p:spPr>
      </p:pic>
      <p:pic>
        <p:nvPicPr>
          <p:cNvPr id="8" name="Picture 7" descr="A graph with lines and numbers&#10;&#10;AI-generated content may be incorrect.">
            <a:extLst>
              <a:ext uri="{FF2B5EF4-FFF2-40B4-BE49-F238E27FC236}">
                <a16:creationId xmlns:a16="http://schemas.microsoft.com/office/drawing/2014/main" id="{5D37B709-C9D6-09F9-2780-9F2BC9F111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913919"/>
            <a:ext cx="4754880" cy="2398257"/>
          </a:xfrm>
          <a:prstGeom prst="rect">
            <a:avLst/>
          </a:prstGeom>
        </p:spPr>
      </p:pic>
      <p:pic>
        <p:nvPicPr>
          <p:cNvPr id="12" name="Picture 11" descr="A graph of different colored lines&#10;&#10;AI-generated content may be incorrect.">
            <a:extLst>
              <a:ext uri="{FF2B5EF4-FFF2-40B4-BE49-F238E27FC236}">
                <a16:creationId xmlns:a16="http://schemas.microsoft.com/office/drawing/2014/main" id="{6B9B3FFA-D314-6FEB-E378-B1AAB76F72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88535" y="3851809"/>
            <a:ext cx="7278232" cy="2460367"/>
          </a:xfrm>
          <a:prstGeom prst="rect">
            <a:avLst/>
          </a:prstGeom>
        </p:spPr>
      </p:pic>
    </p:spTree>
    <p:extLst>
      <p:ext uri="{BB962C8B-B14F-4D97-AF65-F5344CB8AC3E}">
        <p14:creationId xmlns:p14="http://schemas.microsoft.com/office/powerpoint/2010/main" val="4272211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95D8-9A3D-E4E3-9D93-BC0E495D7336}"/>
              </a:ext>
            </a:extLst>
          </p:cNvPr>
          <p:cNvSpPr>
            <a:spLocks noGrp="1"/>
          </p:cNvSpPr>
          <p:nvPr>
            <p:ph type="title"/>
          </p:nvPr>
        </p:nvSpPr>
        <p:spPr>
          <a:xfrm>
            <a:off x="838200" y="365125"/>
            <a:ext cx="10515600" cy="1382755"/>
          </a:xfrm>
        </p:spPr>
        <p:txBody>
          <a:bodyPr/>
          <a:lstStyle/>
          <a:p>
            <a:r>
              <a:rPr lang="en-GB" sz="4000" dirty="0"/>
              <a:t>Average daily appointments by day</a:t>
            </a:r>
            <a:br>
              <a:rPr lang="en-GB" dirty="0"/>
            </a:br>
            <a:endParaRPr lang="en-GB" dirty="0"/>
          </a:p>
        </p:txBody>
      </p:sp>
      <p:pic>
        <p:nvPicPr>
          <p:cNvPr id="4" name="Picture 3" descr="A graph of a graph showing the number of days and months&#10;&#10;AI-generated content may be incorrect.">
            <a:extLst>
              <a:ext uri="{FF2B5EF4-FFF2-40B4-BE49-F238E27FC236}">
                <a16:creationId xmlns:a16="http://schemas.microsoft.com/office/drawing/2014/main" id="{A0F262C2-0DFC-3993-6665-AB129886D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0176" y="1258441"/>
            <a:ext cx="9400392" cy="5409854"/>
          </a:xfrm>
          <a:prstGeom prst="rect">
            <a:avLst/>
          </a:prstGeom>
        </p:spPr>
      </p:pic>
    </p:spTree>
    <p:extLst>
      <p:ext uri="{BB962C8B-B14F-4D97-AF65-F5344CB8AC3E}">
        <p14:creationId xmlns:p14="http://schemas.microsoft.com/office/powerpoint/2010/main" val="2416680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0F0D-5D1F-CF3E-EBAC-2FBFDEDE5819}"/>
              </a:ext>
            </a:extLst>
          </p:cNvPr>
          <p:cNvSpPr>
            <a:spLocks noGrp="1"/>
          </p:cNvSpPr>
          <p:nvPr>
            <p:ph type="title"/>
          </p:nvPr>
        </p:nvSpPr>
        <p:spPr/>
        <p:txBody>
          <a:bodyPr>
            <a:normAutofit/>
          </a:bodyPr>
          <a:lstStyle/>
          <a:p>
            <a:r>
              <a:rPr lang="en-GB" sz="4000" dirty="0"/>
              <a:t>Which days are busiest (getting to the truth)</a:t>
            </a:r>
          </a:p>
        </p:txBody>
      </p:sp>
      <p:pic>
        <p:nvPicPr>
          <p:cNvPr id="4" name="Picture 3" descr="A blue and white grid with numbers&#10;&#10;AI-generated content may be incorrect.">
            <a:extLst>
              <a:ext uri="{FF2B5EF4-FFF2-40B4-BE49-F238E27FC236}">
                <a16:creationId xmlns:a16="http://schemas.microsoft.com/office/drawing/2014/main" id="{E772DBFD-C227-A455-3042-E27185A12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55838"/>
            <a:ext cx="12192000" cy="4002796"/>
          </a:xfrm>
          <a:prstGeom prst="rect">
            <a:avLst/>
          </a:prstGeom>
        </p:spPr>
      </p:pic>
    </p:spTree>
    <p:extLst>
      <p:ext uri="{BB962C8B-B14F-4D97-AF65-F5344CB8AC3E}">
        <p14:creationId xmlns:p14="http://schemas.microsoft.com/office/powerpoint/2010/main" val="180485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320C-35A3-3B8B-35F1-36A00CF74382}"/>
              </a:ext>
            </a:extLst>
          </p:cNvPr>
          <p:cNvSpPr>
            <a:spLocks noGrp="1"/>
          </p:cNvSpPr>
          <p:nvPr>
            <p:ph type="title"/>
          </p:nvPr>
        </p:nvSpPr>
        <p:spPr>
          <a:xfrm>
            <a:off x="838200" y="365125"/>
            <a:ext cx="10515600" cy="749847"/>
          </a:xfrm>
        </p:spPr>
        <p:txBody>
          <a:bodyPr>
            <a:normAutofit/>
          </a:bodyPr>
          <a:lstStyle/>
          <a:p>
            <a:r>
              <a:rPr lang="en-GB" sz="4000" dirty="0"/>
              <a:t>Appointments by season (August 2021-June 2022)</a:t>
            </a:r>
          </a:p>
        </p:txBody>
      </p:sp>
      <p:pic>
        <p:nvPicPr>
          <p:cNvPr id="4" name="Picture 3" descr="A graph showing a line of a line&#10;&#10;AI-generated content may be incorrect.">
            <a:extLst>
              <a:ext uri="{FF2B5EF4-FFF2-40B4-BE49-F238E27FC236}">
                <a16:creationId xmlns:a16="http://schemas.microsoft.com/office/drawing/2014/main" id="{C1708AE9-4896-4365-2F1C-761EFAACE8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10496"/>
            <a:ext cx="5584819" cy="2081273"/>
          </a:xfrm>
          <a:prstGeom prst="rect">
            <a:avLst/>
          </a:prstGeom>
        </p:spPr>
      </p:pic>
      <p:pic>
        <p:nvPicPr>
          <p:cNvPr id="6" name="Picture 5" descr="A graph of a schedule&#10;&#10;AI-generated content may be incorrect.">
            <a:extLst>
              <a:ext uri="{FF2B5EF4-FFF2-40B4-BE49-F238E27FC236}">
                <a16:creationId xmlns:a16="http://schemas.microsoft.com/office/drawing/2014/main" id="{C6A785DD-0E7D-469B-45A9-52DCBDE6D2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199" y="1636296"/>
            <a:ext cx="6400801" cy="2429672"/>
          </a:xfrm>
          <a:prstGeom prst="rect">
            <a:avLst/>
          </a:prstGeom>
        </p:spPr>
      </p:pic>
      <p:pic>
        <p:nvPicPr>
          <p:cNvPr id="8" name="Picture 7" descr="A graph of a line&#10;&#10;AI-generated content may be incorrect.">
            <a:extLst>
              <a:ext uri="{FF2B5EF4-FFF2-40B4-BE49-F238E27FC236}">
                <a16:creationId xmlns:a16="http://schemas.microsoft.com/office/drawing/2014/main" id="{C95F6C53-559F-63E4-C097-F4D0DF894E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402364"/>
            <a:ext cx="5951220" cy="2174144"/>
          </a:xfrm>
          <a:prstGeom prst="rect">
            <a:avLst/>
          </a:prstGeom>
        </p:spPr>
      </p:pic>
      <p:pic>
        <p:nvPicPr>
          <p:cNvPr id="10" name="Picture 9" descr="A diagram of a schedule">
            <a:extLst>
              <a:ext uri="{FF2B5EF4-FFF2-40B4-BE49-F238E27FC236}">
                <a16:creationId xmlns:a16="http://schemas.microsoft.com/office/drawing/2014/main" id="{41172EF7-AF45-5C0B-A297-3DCC118941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2338" y="4402364"/>
            <a:ext cx="6339662" cy="2379123"/>
          </a:xfrm>
          <a:prstGeom prst="rect">
            <a:avLst/>
          </a:prstGeom>
        </p:spPr>
      </p:pic>
    </p:spTree>
    <p:extLst>
      <p:ext uri="{BB962C8B-B14F-4D97-AF65-F5344CB8AC3E}">
        <p14:creationId xmlns:p14="http://schemas.microsoft.com/office/powerpoint/2010/main" val="315565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529F4-5032-D9AF-E6BC-B3E79CB03085}"/>
              </a:ext>
            </a:extLst>
          </p:cNvPr>
          <p:cNvSpPr>
            <a:spLocks noGrp="1"/>
          </p:cNvSpPr>
          <p:nvPr>
            <p:ph type="title"/>
          </p:nvPr>
        </p:nvSpPr>
        <p:spPr>
          <a:xfrm>
            <a:off x="838200" y="365125"/>
            <a:ext cx="10515600" cy="709295"/>
          </a:xfrm>
        </p:spPr>
        <p:txBody>
          <a:bodyPr>
            <a:normAutofit/>
          </a:bodyPr>
          <a:lstStyle/>
          <a:p>
            <a:r>
              <a:rPr lang="en-GB" sz="4000" dirty="0"/>
              <a:t>How where appointments delivered (mode)</a:t>
            </a:r>
          </a:p>
        </p:txBody>
      </p:sp>
      <p:pic>
        <p:nvPicPr>
          <p:cNvPr id="4" name="Picture 3" descr="A graph of a number of different colored lines&#10;&#10;AI-generated content may be incorrect.">
            <a:extLst>
              <a:ext uri="{FF2B5EF4-FFF2-40B4-BE49-F238E27FC236}">
                <a16:creationId xmlns:a16="http://schemas.microsoft.com/office/drawing/2014/main" id="{61E2E7AB-A732-1338-DF2E-EFFA27374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59" y="1211153"/>
            <a:ext cx="11803189" cy="3935381"/>
          </a:xfrm>
          <a:prstGeom prst="rect">
            <a:avLst/>
          </a:prstGeom>
        </p:spPr>
      </p:pic>
      <p:sp>
        <p:nvSpPr>
          <p:cNvPr id="7" name="TextBox 6">
            <a:extLst>
              <a:ext uri="{FF2B5EF4-FFF2-40B4-BE49-F238E27FC236}">
                <a16:creationId xmlns:a16="http://schemas.microsoft.com/office/drawing/2014/main" id="{45102F3B-4B59-1AE3-3C3F-C79D268A8ED2}"/>
              </a:ext>
            </a:extLst>
          </p:cNvPr>
          <p:cNvSpPr txBox="1"/>
          <p:nvPr/>
        </p:nvSpPr>
        <p:spPr>
          <a:xfrm>
            <a:off x="614995" y="5526860"/>
            <a:ext cx="10382081" cy="923330"/>
          </a:xfrm>
          <a:prstGeom prst="rect">
            <a:avLst/>
          </a:prstGeom>
          <a:noFill/>
        </p:spPr>
        <p:txBody>
          <a:bodyPr wrap="square" rtlCol="0">
            <a:spAutoFit/>
          </a:bodyPr>
          <a:lstStyle/>
          <a:p>
            <a:r>
              <a:rPr lang="en-GB" dirty="0"/>
              <a:t>Significant and sharp decrease in the number of face to face appointments when the first Covid lockdown came into force,</a:t>
            </a:r>
          </a:p>
          <a:p>
            <a:r>
              <a:rPr lang="en-GB" dirty="0"/>
              <a:t>An increase in telephone appointments at the same time</a:t>
            </a:r>
          </a:p>
        </p:txBody>
      </p:sp>
    </p:spTree>
    <p:extLst>
      <p:ext uri="{BB962C8B-B14F-4D97-AF65-F5344CB8AC3E}">
        <p14:creationId xmlns:p14="http://schemas.microsoft.com/office/powerpoint/2010/main" val="3903352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FF6F-FAB2-175E-ED27-BA0A0A818AE3}"/>
              </a:ext>
            </a:extLst>
          </p:cNvPr>
          <p:cNvSpPr>
            <a:spLocks noGrp="1"/>
          </p:cNvSpPr>
          <p:nvPr>
            <p:ph type="title"/>
          </p:nvPr>
        </p:nvSpPr>
        <p:spPr>
          <a:xfrm>
            <a:off x="838200" y="365125"/>
            <a:ext cx="10515600" cy="450215"/>
          </a:xfrm>
        </p:spPr>
        <p:txBody>
          <a:bodyPr>
            <a:normAutofit fontScale="90000"/>
          </a:bodyPr>
          <a:lstStyle/>
          <a:p>
            <a:r>
              <a:rPr lang="en-GB" sz="4000" dirty="0"/>
              <a:t>Appointments by attendance (Jan 2020 – June 2022)</a:t>
            </a:r>
          </a:p>
        </p:txBody>
      </p:sp>
      <p:pic>
        <p:nvPicPr>
          <p:cNvPr id="4" name="Picture 3" descr="A graph with lines and numbers&#10;&#10;AI-generated content may be incorrect.">
            <a:extLst>
              <a:ext uri="{FF2B5EF4-FFF2-40B4-BE49-F238E27FC236}">
                <a16:creationId xmlns:a16="http://schemas.microsoft.com/office/drawing/2014/main" id="{4685C7AA-33F7-805C-8C80-D110AA34A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0" y="815340"/>
            <a:ext cx="9307874" cy="2717959"/>
          </a:xfrm>
          <a:prstGeom prst="rect">
            <a:avLst/>
          </a:prstGeom>
        </p:spPr>
      </p:pic>
      <p:pic>
        <p:nvPicPr>
          <p:cNvPr id="6" name="Picture 5" descr="A graph with lines and numbers&#10;&#10;AI-generated content may be incorrect.">
            <a:extLst>
              <a:ext uri="{FF2B5EF4-FFF2-40B4-BE49-F238E27FC236}">
                <a16:creationId xmlns:a16="http://schemas.microsoft.com/office/drawing/2014/main" id="{28466116-627D-0F46-AF88-CBB4200E50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 y="3718560"/>
            <a:ext cx="9768840" cy="3035833"/>
          </a:xfrm>
          <a:prstGeom prst="rect">
            <a:avLst/>
          </a:prstGeom>
        </p:spPr>
      </p:pic>
    </p:spTree>
    <p:extLst>
      <p:ext uri="{BB962C8B-B14F-4D97-AF65-F5344CB8AC3E}">
        <p14:creationId xmlns:p14="http://schemas.microsoft.com/office/powerpoint/2010/main" val="56546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9A10D-486F-6665-D789-18088CB2D927}"/>
              </a:ext>
            </a:extLst>
          </p:cNvPr>
          <p:cNvSpPr>
            <a:spLocks noGrp="1"/>
          </p:cNvSpPr>
          <p:nvPr>
            <p:ph type="title"/>
          </p:nvPr>
        </p:nvSpPr>
        <p:spPr/>
        <p:txBody>
          <a:bodyPr>
            <a:normAutofit/>
          </a:bodyPr>
          <a:lstStyle/>
          <a:p>
            <a:r>
              <a:rPr lang="en-GB" sz="4000" dirty="0"/>
              <a:t>Missed appointments by wait time</a:t>
            </a:r>
          </a:p>
        </p:txBody>
      </p:sp>
      <p:pic>
        <p:nvPicPr>
          <p:cNvPr id="6" name="Picture 5" descr="A graph showing a missed appointment&#10;&#10;AI-generated content may be incorrect.">
            <a:extLst>
              <a:ext uri="{FF2B5EF4-FFF2-40B4-BE49-F238E27FC236}">
                <a16:creationId xmlns:a16="http://schemas.microsoft.com/office/drawing/2014/main" id="{0B219E51-7562-8E14-9BB1-638A38E46A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892" y="1690688"/>
            <a:ext cx="10042216" cy="4779361"/>
          </a:xfrm>
          <a:prstGeom prst="rect">
            <a:avLst/>
          </a:prstGeom>
        </p:spPr>
      </p:pic>
    </p:spTree>
    <p:extLst>
      <p:ext uri="{BB962C8B-B14F-4D97-AF65-F5344CB8AC3E}">
        <p14:creationId xmlns:p14="http://schemas.microsoft.com/office/powerpoint/2010/main" val="3690347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46715-B14B-1228-4FD8-38928245BE06}"/>
              </a:ext>
            </a:extLst>
          </p:cNvPr>
          <p:cNvSpPr>
            <a:spLocks noGrp="1"/>
          </p:cNvSpPr>
          <p:nvPr>
            <p:ph type="title"/>
          </p:nvPr>
        </p:nvSpPr>
        <p:spPr/>
        <p:txBody>
          <a:bodyPr>
            <a:normAutofit/>
          </a:bodyPr>
          <a:lstStyle/>
          <a:p>
            <a:r>
              <a:rPr lang="en-GB" sz="4000" dirty="0"/>
              <a:t>Appointment attendance status (Sub ICB)</a:t>
            </a:r>
          </a:p>
        </p:txBody>
      </p:sp>
      <p:sp>
        <p:nvSpPr>
          <p:cNvPr id="9" name="TextBox 8">
            <a:extLst>
              <a:ext uri="{FF2B5EF4-FFF2-40B4-BE49-F238E27FC236}">
                <a16:creationId xmlns:a16="http://schemas.microsoft.com/office/drawing/2014/main" id="{8E68FA05-E003-01F7-86B4-37CDA4697391}"/>
              </a:ext>
            </a:extLst>
          </p:cNvPr>
          <p:cNvSpPr txBox="1"/>
          <p:nvPr/>
        </p:nvSpPr>
        <p:spPr>
          <a:xfrm>
            <a:off x="1699327" y="5818173"/>
            <a:ext cx="8739399" cy="1200329"/>
          </a:xfrm>
          <a:prstGeom prst="rect">
            <a:avLst/>
          </a:prstGeom>
          <a:noFill/>
        </p:spPr>
        <p:txBody>
          <a:bodyPr wrap="square" rtlCol="0">
            <a:spAutoFit/>
          </a:bodyPr>
          <a:lstStyle/>
          <a:p>
            <a:r>
              <a:rPr lang="en-GB" dirty="0"/>
              <a:t>91% of appointments are attended</a:t>
            </a:r>
          </a:p>
          <a:p>
            <a:r>
              <a:rPr lang="en-GB" dirty="0"/>
              <a:t>3.5-4.3% are not attended</a:t>
            </a:r>
          </a:p>
          <a:p>
            <a:r>
              <a:rPr lang="en-GB" dirty="0"/>
              <a:t>4.4%-5.5% are unknown</a:t>
            </a:r>
          </a:p>
          <a:p>
            <a:endParaRPr lang="en-GB" dirty="0"/>
          </a:p>
        </p:txBody>
      </p:sp>
      <p:pic>
        <p:nvPicPr>
          <p:cNvPr id="13" name="Picture 12" descr="A graph with text and numbers&#10;&#10;AI-generated content may be incorrect.">
            <a:extLst>
              <a:ext uri="{FF2B5EF4-FFF2-40B4-BE49-F238E27FC236}">
                <a16:creationId xmlns:a16="http://schemas.microsoft.com/office/drawing/2014/main" id="{BCC0C929-05D5-E6B5-4E8E-DE60088AF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007" y="1324434"/>
            <a:ext cx="10515599" cy="4504580"/>
          </a:xfrm>
          <a:prstGeom prst="rect">
            <a:avLst/>
          </a:prstGeom>
        </p:spPr>
      </p:pic>
    </p:spTree>
    <p:extLst>
      <p:ext uri="{BB962C8B-B14F-4D97-AF65-F5344CB8AC3E}">
        <p14:creationId xmlns:p14="http://schemas.microsoft.com/office/powerpoint/2010/main" val="1186937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5284-2AD0-2271-7934-16EBF08046A1}"/>
              </a:ext>
            </a:extLst>
          </p:cNvPr>
          <p:cNvSpPr>
            <a:spLocks noGrp="1"/>
          </p:cNvSpPr>
          <p:nvPr>
            <p:ph type="title"/>
          </p:nvPr>
        </p:nvSpPr>
        <p:spPr/>
        <p:txBody>
          <a:bodyPr>
            <a:normAutofit/>
          </a:bodyPr>
          <a:lstStyle/>
          <a:p>
            <a:r>
              <a:rPr lang="en-GB" sz="4000" dirty="0"/>
              <a:t>Utilisation (January 2020-June 2022)</a:t>
            </a:r>
          </a:p>
        </p:txBody>
      </p:sp>
      <p:pic>
        <p:nvPicPr>
          <p:cNvPr id="8" name="Picture 7" descr="A graph of a line&#10;&#10;AI-generated content may be incorrect.">
            <a:extLst>
              <a:ext uri="{FF2B5EF4-FFF2-40B4-BE49-F238E27FC236}">
                <a16:creationId xmlns:a16="http://schemas.microsoft.com/office/drawing/2014/main" id="{8C076882-50F0-C59C-3597-9C92989F3C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58" y="1690688"/>
            <a:ext cx="11468832" cy="4224590"/>
          </a:xfrm>
          <a:prstGeom prst="rect">
            <a:avLst/>
          </a:prstGeom>
        </p:spPr>
      </p:pic>
    </p:spTree>
    <p:extLst>
      <p:ext uri="{BB962C8B-B14F-4D97-AF65-F5344CB8AC3E}">
        <p14:creationId xmlns:p14="http://schemas.microsoft.com/office/powerpoint/2010/main" val="2656826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255F-7CAC-3B4A-22A7-C3C9EC7A8CE7}"/>
              </a:ext>
            </a:extLst>
          </p:cNvPr>
          <p:cNvSpPr>
            <a:spLocks noGrp="1"/>
          </p:cNvSpPr>
          <p:nvPr>
            <p:ph type="title"/>
          </p:nvPr>
        </p:nvSpPr>
        <p:spPr>
          <a:xfrm>
            <a:off x="838200" y="365125"/>
            <a:ext cx="10515600" cy="709295"/>
          </a:xfrm>
        </p:spPr>
        <p:txBody>
          <a:bodyPr/>
          <a:lstStyle/>
          <a:p>
            <a:endParaRPr lang="en-GB" dirty="0"/>
          </a:p>
        </p:txBody>
      </p:sp>
      <p:pic>
        <p:nvPicPr>
          <p:cNvPr id="4" name="Picture 3"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9F9BD66F-8A8A-FBA1-4D0E-6AA188E4B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689" y="1248728"/>
            <a:ext cx="8763831" cy="5335781"/>
          </a:xfrm>
          <a:prstGeom prst="rect">
            <a:avLst/>
          </a:prstGeom>
        </p:spPr>
      </p:pic>
    </p:spTree>
    <p:extLst>
      <p:ext uri="{BB962C8B-B14F-4D97-AF65-F5344CB8AC3E}">
        <p14:creationId xmlns:p14="http://schemas.microsoft.com/office/powerpoint/2010/main" val="2863554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58C72-F5BD-7658-8DD2-852DE18A6A8C}"/>
              </a:ext>
            </a:extLst>
          </p:cNvPr>
          <p:cNvSpPr>
            <a:spLocks noGrp="1"/>
          </p:cNvSpPr>
          <p:nvPr>
            <p:ph type="title"/>
          </p:nvPr>
        </p:nvSpPr>
        <p:spPr/>
        <p:txBody>
          <a:bodyPr>
            <a:normAutofit/>
          </a:bodyPr>
          <a:lstStyle/>
          <a:p>
            <a:r>
              <a:rPr lang="en-GB" sz="4000" dirty="0"/>
              <a:t>Key Insights &amp; Trends</a:t>
            </a:r>
          </a:p>
        </p:txBody>
      </p:sp>
      <p:sp>
        <p:nvSpPr>
          <p:cNvPr id="3" name="TextBox 2">
            <a:extLst>
              <a:ext uri="{FF2B5EF4-FFF2-40B4-BE49-F238E27FC236}">
                <a16:creationId xmlns:a16="http://schemas.microsoft.com/office/drawing/2014/main" id="{B9D67FF4-0E97-9892-7343-5E3C5F093EAC}"/>
              </a:ext>
            </a:extLst>
          </p:cNvPr>
          <p:cNvSpPr txBox="1"/>
          <p:nvPr/>
        </p:nvSpPr>
        <p:spPr>
          <a:xfrm>
            <a:off x="695915" y="1610315"/>
            <a:ext cx="10948524" cy="4370427"/>
          </a:xfrm>
          <a:prstGeom prst="rect">
            <a:avLst/>
          </a:prstGeom>
          <a:noFill/>
        </p:spPr>
        <p:txBody>
          <a:bodyPr wrap="square" rtlCol="0">
            <a:spAutoFit/>
          </a:bodyPr>
          <a:lstStyle/>
          <a:p>
            <a:pPr marL="285750" indent="-285750">
              <a:buFont typeface="Arial" panose="020B0604020202020204" pitchFamily="34" charset="0"/>
              <a:buChar char="•"/>
            </a:pPr>
            <a:r>
              <a:rPr lang="en-GB" sz="2800" dirty="0"/>
              <a:t>NHS England is experiencing an ever increasing demand on services </a:t>
            </a:r>
            <a:r>
              <a:rPr lang="en-GB" sz="2800" dirty="0" err="1"/>
              <a:t>fueled</a:t>
            </a:r>
            <a:r>
              <a:rPr lang="en-GB" sz="2800" dirty="0"/>
              <a:t> by an increasing population, particularly the elderly</a:t>
            </a:r>
          </a:p>
          <a:p>
            <a:pPr marL="285750" indent="-285750">
              <a:buFont typeface="Arial" panose="020B0604020202020204" pitchFamily="34" charset="0"/>
              <a:buChar char="•"/>
            </a:pPr>
            <a:r>
              <a:rPr lang="en-GB" sz="2800" dirty="0"/>
              <a:t>Daily capacity of 1.2 Million</a:t>
            </a:r>
          </a:p>
          <a:p>
            <a:pPr marL="285750" indent="-285750">
              <a:buFont typeface="Arial" panose="020B0604020202020204" pitchFamily="34" charset="0"/>
              <a:buChar char="•"/>
            </a:pPr>
            <a:r>
              <a:rPr lang="en-GB" sz="2800" dirty="0"/>
              <a:t>Capacity is an issue during the autumn and winter months  but under capacity the rest of the year</a:t>
            </a:r>
          </a:p>
          <a:p>
            <a:pPr marL="285750" indent="-285750">
              <a:buFont typeface="Arial" panose="020B0604020202020204" pitchFamily="34" charset="0"/>
              <a:buChar char="•"/>
            </a:pPr>
            <a:r>
              <a:rPr lang="en-GB" sz="2800" dirty="0"/>
              <a:t>Patients not attending booked appointments is costly both financially and socially</a:t>
            </a:r>
          </a:p>
          <a:p>
            <a:pPr marL="285750" indent="-285750">
              <a:buFont typeface="Arial" panose="020B0604020202020204" pitchFamily="34" charset="0"/>
              <a:buChar char="•"/>
            </a:pPr>
            <a:r>
              <a:rPr lang="en-GB" sz="2800" dirty="0"/>
              <a:t>Data quality and mapping a big issue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640981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C212-EF7C-9D15-CC11-9333921BAC16}"/>
              </a:ext>
            </a:extLst>
          </p:cNvPr>
          <p:cNvSpPr>
            <a:spLocks noGrp="1"/>
          </p:cNvSpPr>
          <p:nvPr>
            <p:ph type="title"/>
          </p:nvPr>
        </p:nvSpPr>
        <p:spPr/>
        <p:txBody>
          <a:bodyPr>
            <a:normAutofit/>
          </a:bodyPr>
          <a:lstStyle/>
          <a:p>
            <a:r>
              <a:rPr lang="en-GB" sz="4000" dirty="0"/>
              <a:t>Recommendations</a:t>
            </a:r>
          </a:p>
        </p:txBody>
      </p:sp>
      <p:sp>
        <p:nvSpPr>
          <p:cNvPr id="3" name="TextBox 2">
            <a:extLst>
              <a:ext uri="{FF2B5EF4-FFF2-40B4-BE49-F238E27FC236}">
                <a16:creationId xmlns:a16="http://schemas.microsoft.com/office/drawing/2014/main" id="{38B40F4D-5AFD-45A0-11C8-1E59650C2620}"/>
              </a:ext>
            </a:extLst>
          </p:cNvPr>
          <p:cNvSpPr txBox="1"/>
          <p:nvPr/>
        </p:nvSpPr>
        <p:spPr>
          <a:xfrm>
            <a:off x="695916" y="2047285"/>
            <a:ext cx="10972800" cy="4678204"/>
          </a:xfrm>
          <a:prstGeom prst="rect">
            <a:avLst/>
          </a:prstGeom>
          <a:noFill/>
        </p:spPr>
        <p:txBody>
          <a:bodyPr wrap="square" rtlCol="0">
            <a:spAutoFit/>
          </a:bodyPr>
          <a:lstStyle/>
          <a:p>
            <a:pPr marL="285750" indent="-285750">
              <a:buFont typeface="Arial" panose="020B0604020202020204" pitchFamily="34" charset="0"/>
              <a:buChar char="•"/>
            </a:pPr>
            <a:r>
              <a:rPr lang="en-GB" sz="2800" dirty="0"/>
              <a:t>More reliable and efficient data collection is needed</a:t>
            </a:r>
          </a:p>
          <a:p>
            <a:pPr marL="285750" indent="-285750">
              <a:buFont typeface="Arial" panose="020B0604020202020204" pitchFamily="34" charset="0"/>
              <a:buChar char="•"/>
            </a:pPr>
            <a:r>
              <a:rPr lang="en-GB" sz="2800" dirty="0"/>
              <a:t>Adjust capacity levels and utilisation as required according to demand</a:t>
            </a:r>
          </a:p>
          <a:p>
            <a:pPr marL="285750" indent="-285750">
              <a:buFont typeface="Arial" panose="020B0604020202020204" pitchFamily="34" charset="0"/>
              <a:buChar char="•"/>
            </a:pPr>
            <a:r>
              <a:rPr lang="en-GB" sz="2800" dirty="0"/>
              <a:t>Use historical trends to plan for the future</a:t>
            </a:r>
          </a:p>
          <a:p>
            <a:pPr marL="285750" indent="-285750">
              <a:buFont typeface="Arial" panose="020B0604020202020204" pitchFamily="34" charset="0"/>
              <a:buChar char="•"/>
            </a:pPr>
            <a:r>
              <a:rPr lang="en-GB" sz="2800" dirty="0"/>
              <a:t>The problem of DNA needs to be sorted – target in particular those areas where DNA is particularly high</a:t>
            </a:r>
          </a:p>
          <a:p>
            <a:pPr marL="285750" indent="-285750">
              <a:buFont typeface="Arial" panose="020B0604020202020204" pitchFamily="34" charset="0"/>
              <a:buChar char="•"/>
            </a:pPr>
            <a:r>
              <a:rPr lang="en-GB" sz="2800" dirty="0"/>
              <a:t>Review how patients make, reschedule and cancel appointments</a:t>
            </a:r>
          </a:p>
          <a:p>
            <a:pPr marL="285750" indent="-285750">
              <a:buFont typeface="Arial" panose="020B0604020202020204" pitchFamily="34" charset="0"/>
              <a:buChar char="•"/>
            </a:pPr>
            <a:r>
              <a:rPr lang="en-GB" sz="2800" dirty="0"/>
              <a:t>Increase social media integration</a:t>
            </a:r>
          </a:p>
          <a:p>
            <a:pPr marL="285750" indent="-285750">
              <a:buFont typeface="Arial" panose="020B0604020202020204" pitchFamily="34" charset="0"/>
              <a:buChar char="•"/>
            </a:pPr>
            <a:r>
              <a:rPr lang="en-GB" sz="2800" dirty="0"/>
              <a:t>Collect more demographic and social economic data, adhering to laws and ethical standards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64401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89C7A-338E-C9E1-53BD-B478F6DA5E67}"/>
              </a:ext>
            </a:extLst>
          </p:cNvPr>
          <p:cNvSpPr>
            <a:spLocks noGrp="1"/>
          </p:cNvSpPr>
          <p:nvPr>
            <p:ph type="title"/>
          </p:nvPr>
        </p:nvSpPr>
        <p:spPr/>
        <p:txBody>
          <a:bodyPr>
            <a:normAutofit/>
          </a:bodyPr>
          <a:lstStyle/>
          <a:p>
            <a:r>
              <a:rPr lang="en-GB" sz="4000" dirty="0"/>
              <a:t>Conclusion</a:t>
            </a:r>
          </a:p>
        </p:txBody>
      </p:sp>
    </p:spTree>
    <p:extLst>
      <p:ext uri="{BB962C8B-B14F-4D97-AF65-F5344CB8AC3E}">
        <p14:creationId xmlns:p14="http://schemas.microsoft.com/office/powerpoint/2010/main" val="2555526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1648</TotalTime>
  <Words>2331</Words>
  <Application>Microsoft Office PowerPoint</Application>
  <PresentationFormat>Widescreen</PresentationFormat>
  <Paragraphs>148</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Context &amp; background</vt:lpstr>
      <vt:lpstr>Initial Insights</vt:lpstr>
      <vt:lpstr>Service settings &amp; context types 08/2021-06-2022</vt:lpstr>
      <vt:lpstr>Average daily appointments by day </vt:lpstr>
      <vt:lpstr>Which days are busiest (getting to the truth)</vt:lpstr>
      <vt:lpstr>Appointments by season (August 2021-June 2022)</vt:lpstr>
      <vt:lpstr>How where appointments delivered (mode)</vt:lpstr>
      <vt:lpstr>Appointments by attendance (Jan 2020 – June 2022)</vt:lpstr>
      <vt:lpstr>Missed appointments by wait time</vt:lpstr>
      <vt:lpstr>Appointment attendance status (Sub ICB)</vt:lpstr>
      <vt:lpstr>Utilisation (January 2020-June 2022)</vt:lpstr>
      <vt:lpstr>PowerPoint Presentation</vt:lpstr>
      <vt:lpstr>Key Insights &amp; Trends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WILLACY</dc:creator>
  <cp:lastModifiedBy>ANDREW WILLACY</cp:lastModifiedBy>
  <cp:revision>4</cp:revision>
  <dcterms:created xsi:type="dcterms:W3CDTF">2025-08-08T11:18:39Z</dcterms:created>
  <dcterms:modified xsi:type="dcterms:W3CDTF">2026-07-12T10:42:12Z</dcterms:modified>
</cp:coreProperties>
</file>